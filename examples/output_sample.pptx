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4373C8"/>
                </a:solidFill>
                <a:latin typeface="SimHei"/>
              </a:rPr>
              <a:t>第 1 页：T+0 清算的核心定义与运行机制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8760" y="6272784"/>
            <a:ext cx="9464040" cy="73152"/>
          </a:xfrm>
          <a:prstGeom prst="rect">
            <a:avLst/>
          </a:prstGeom>
          <a:solidFill>
            <a:srgbClr val="4373C8"/>
          </a:solidFill>
          <a:ln>
            <a:solidFill>
              <a:srgbClr val="43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SimSun"/>
              </a:rPr>
              <a:t>核心要点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2646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“T” 表示交易日。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135331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22776" y="142646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176479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“+0” 表示清算、交割与资金到账在交易当天完成。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4495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11810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45643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卖出资产后资金实时可用，买入资产后可即时记入账户。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3048" y="304495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2776" y="311810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2776" y="345643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T+0 依赖银行核心业务系统和自动化冲账技术。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960120"/>
            <a:ext cx="3794760" cy="4206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逻辑框架</a:t>
            </a:r>
          </a:p>
          <a:p>
            <a:pPr algn="l"/>
          </a:p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概念界定 -&gt; 运行机制 -&gt; 实务意义 -&gt; 风险边界</a:t>
            </a:r>
          </a:p>
          <a:p>
            <a:pPr algn="l"/>
          </a:p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该页保留为可编辑文本和图形，便于教师按课程语境继续修改。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4373C8"/>
                </a:solidFill>
                <a:latin typeface="SimHei"/>
              </a:rPr>
              <a:t>第 2 页：外汇市场中的 T+0 实务与对比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8760" y="6272784"/>
            <a:ext cx="9464040" cy="73152"/>
          </a:xfrm>
          <a:prstGeom prst="rect">
            <a:avLst/>
          </a:prstGeom>
          <a:solidFill>
            <a:srgbClr val="4373C8"/>
          </a:solidFill>
          <a:ln>
            <a:solidFill>
              <a:srgbClr val="43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SimSun"/>
              </a:rPr>
              <a:t>核心要点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2646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外汇交易通常具备随买随卖属性。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135331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22776" y="142646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176479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与 A 股 T+1 相比，外汇 T+0 降低了持仓过夜风险。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4495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11810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45643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投资者可在日内多次交易，也需要承担点差和过度交易成本。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960120"/>
            <a:ext cx="3794760" cy="4206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逻辑框架</a:t>
            </a:r>
          </a:p>
          <a:p>
            <a:pPr algn="l"/>
          </a:p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概念界定 -&gt; 运行机制 -&gt; 实务意义 -&gt; 风险边界</a:t>
            </a:r>
          </a:p>
          <a:p>
            <a:pPr algn="l"/>
          </a:p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该页保留为可编辑文本和图形，便于教师按课程语境继续修改。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858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300">
                <a:solidFill>
                  <a:srgbClr val="4373C8"/>
                </a:solidFill>
                <a:latin typeface="SimHei"/>
              </a:rPr>
              <a:t>第 3 页：AI 时代下的 T+0 进阶逻辑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8760" y="6272784"/>
            <a:ext cx="9464040" cy="73152"/>
          </a:xfrm>
          <a:prstGeom prst="rect">
            <a:avLst/>
          </a:prstGeom>
          <a:solidFill>
            <a:srgbClr val="4373C8"/>
          </a:solidFill>
          <a:ln>
            <a:solidFill>
              <a:srgbClr val="437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31089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32323"/>
                </a:solidFill>
                <a:latin typeface="SimSun"/>
              </a:rPr>
              <a:t>核心要点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42646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AI 模型可利用 T+0 完成秒级响应和动态风控。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135331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22776" y="142646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176479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跨境贸易结算中的 T+0 有助于缩短资金占压时间。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044952"/>
            <a:ext cx="2971800" cy="1325880"/>
          </a:xfrm>
          <a:prstGeom prst="rect">
            <a:avLst/>
          </a:prstGeom>
          <a:solidFill>
            <a:srgbClr val="EEF4FD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3118104"/>
            <a:ext cx="2752344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C407D"/>
                </a:solidFill>
                <a:latin typeface="Sim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456432"/>
            <a:ext cx="2752344" cy="8321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232323"/>
                </a:solidFill>
                <a:latin typeface="SimSun"/>
              </a:rPr>
              <a:t>高频交易环境下需要更强的实时监管与真实性审核。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960120"/>
            <a:ext cx="3794760" cy="42062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逻辑框架</a:t>
            </a:r>
          </a:p>
          <a:p>
            <a:pPr algn="l"/>
          </a:p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概念界定 -&gt; 运行机制 -&gt; 实务意义 -&gt; 风险边界</a:t>
            </a:r>
          </a:p>
          <a:p>
            <a:pPr algn="l"/>
          </a:p>
          <a:p>
            <a:pPr algn="l"/>
            <a:r>
              <a:rPr sz="1600" b="0">
                <a:solidFill>
                  <a:srgbClr val="232323"/>
                </a:solidFill>
                <a:latin typeface="SimSun"/>
              </a:rPr>
              <a:t>该页保留为可编辑文本和图形，便于教师按课程语境继续修改。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