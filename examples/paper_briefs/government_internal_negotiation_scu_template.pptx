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11480"/>
            <a:ext cx="201168" cy="621792"/>
          </a:xfrm>
          <a:prstGeom prst="rect">
            <a:avLst/>
          </a:prstGeom>
          <a:solidFill>
            <a:srgbClr val="B80C0C"/>
          </a:solidFill>
          <a:ln>
            <a:solidFill>
              <a:srgbClr val="B8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8138160" cy="530352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2500" b="1">
                <a:solidFill>
                  <a:srgbClr val="B80C0C"/>
                </a:solidFill>
                <a:latin typeface="SimHei"/>
              </a:rPr>
              <a:t>政府内部上下级部门间谈判：核心判断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932688"/>
            <a:ext cx="813816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SimSun"/>
              </a:rPr>
              <a:t>Contract：5页 · 论文汇报 · 四川大学答辩模板 · 可编辑PPTX</a:t>
            </a:r>
          </a:p>
        </p:txBody>
      </p:sp>
      <p:pic>
        <p:nvPicPr>
          <p:cNvPr id="5" name="Picture 4" descr="sichuan_university_badge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411480"/>
            <a:ext cx="1737360" cy="6675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6236208"/>
            <a:ext cx="10881360" cy="9144"/>
          </a:xfrm>
          <a:prstGeom prst="rect">
            <a:avLst/>
          </a:prstGeom>
          <a:solidFill>
            <a:srgbClr val="EB5955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18504"/>
            <a:ext cx="256032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100" b="0">
                <a:solidFill>
                  <a:srgbClr val="919191"/>
                </a:solidFill>
                <a:latin typeface="SimSun"/>
              </a:rPr>
              <a:t>海纳百川，有容乃大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18504"/>
            <a:ext cx="192024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r"/>
            <a:r>
              <a:rPr sz="1100" b="0">
                <a:solidFill>
                  <a:srgbClr val="919191"/>
                </a:solidFill>
                <a:latin typeface="SimSun"/>
              </a:rPr>
              <a:t>www.scu.edu.cn/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424160" cy="41148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700" b="1">
                <a:solidFill>
                  <a:srgbClr val="181818"/>
                </a:solidFill>
                <a:latin typeface="SimHei"/>
              </a:rPr>
              <a:t>周雪光、练宏以环境政策实施为例，构建政府内部上下级部门间谈判的序贯博弈分析模型。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48840"/>
            <a:ext cx="10652760" cy="1920240"/>
          </a:xfrm>
          <a:prstGeom prst="rect">
            <a:avLst/>
          </a:prstGeom>
          <a:solidFill>
            <a:srgbClr val="B80C0C"/>
          </a:solidFill>
          <a:ln>
            <a:solidFill>
              <a:srgbClr val="B8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514600"/>
            <a:ext cx="9784080" cy="1005840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SimSun"/>
              </a:rPr>
              <a:t>核心命题：政府内部谈判不是偶发的“执行偏差”，而是科层组织在正式权威、信息不对称、时间压力和非正式关系共同作用下形成的常态化互动机制。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SimSun"/>
              </a:rPr>
              <a:t>分析抓手：上级部门先选择“常规模式”或“动员模式”；下级部门再选择“正式谈判”“非正式谈判”或“准退出”。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617720"/>
            <a:ext cx="3154680" cy="914400"/>
          </a:xfrm>
          <a:prstGeom prst="rect">
            <a:avLst/>
          </a:prstGeom>
          <a:solidFill>
            <a:srgbClr val="FFF2F2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4727448"/>
            <a:ext cx="2862072" cy="27432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500" b="1">
                <a:solidFill>
                  <a:srgbClr val="B80C0C"/>
                </a:solidFill>
                <a:latin typeface="SimHei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5093208"/>
            <a:ext cx="2862072" cy="34747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解释政策实施中的上下级互动。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4617720"/>
            <a:ext cx="3154680" cy="914400"/>
          </a:xfrm>
          <a:prstGeom prst="rect">
            <a:avLst/>
          </a:prstGeom>
          <a:solidFill>
            <a:srgbClr val="FFF2F2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4727448"/>
            <a:ext cx="2862072" cy="27432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500" b="1">
                <a:solidFill>
                  <a:srgbClr val="B80C0C"/>
                </a:solidFill>
                <a:latin typeface="SimHei"/>
              </a:rPr>
              <a:t>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5093208"/>
            <a:ext cx="2862072" cy="34747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公共管理、组织社会学、政策执行研究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4617720"/>
            <a:ext cx="3154680" cy="914400"/>
          </a:xfrm>
          <a:prstGeom prst="rect">
            <a:avLst/>
          </a:prstGeom>
          <a:solidFill>
            <a:srgbClr val="FFF2F2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4727448"/>
            <a:ext cx="2862072" cy="27432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500" b="1">
                <a:solidFill>
                  <a:srgbClr val="B80C0C"/>
                </a:solidFill>
                <a:latin typeface="SimHei"/>
              </a:rPr>
              <a:t>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5093208"/>
            <a:ext cx="2862072" cy="34747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看懂模型结构与三类应对策略。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11480"/>
            <a:ext cx="201168" cy="621792"/>
          </a:xfrm>
          <a:prstGeom prst="rect">
            <a:avLst/>
          </a:prstGeom>
          <a:solidFill>
            <a:srgbClr val="B80C0C"/>
          </a:solidFill>
          <a:ln>
            <a:solidFill>
              <a:srgbClr val="B8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8138160" cy="530352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2500" b="1">
                <a:solidFill>
                  <a:srgbClr val="B80C0C"/>
                </a:solidFill>
                <a:latin typeface="SimHei"/>
              </a:rPr>
              <a:t>问题背景：为什么要研究政府内部谈判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932688"/>
            <a:ext cx="813816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SimSun"/>
              </a:rPr>
              <a:t>Intent：从政策执行现象进入组织机制</a:t>
            </a:r>
          </a:p>
        </p:txBody>
      </p:sp>
      <p:pic>
        <p:nvPicPr>
          <p:cNvPr id="5" name="Picture 4" descr="sichuan_university_badge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411480"/>
            <a:ext cx="1737360" cy="6675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6236208"/>
            <a:ext cx="10881360" cy="9144"/>
          </a:xfrm>
          <a:prstGeom prst="rect">
            <a:avLst/>
          </a:prstGeom>
          <a:solidFill>
            <a:srgbClr val="EB5955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18504"/>
            <a:ext cx="256032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100" b="0">
                <a:solidFill>
                  <a:srgbClr val="919191"/>
                </a:solidFill>
                <a:latin typeface="SimSun"/>
              </a:rPr>
              <a:t>海纳百川，有容乃大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18504"/>
            <a:ext cx="192024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r"/>
            <a:r>
              <a:rPr sz="1100" b="0">
                <a:solidFill>
                  <a:srgbClr val="919191"/>
                </a:solidFill>
                <a:latin typeface="SimSun"/>
              </a:rPr>
              <a:t>www.scu.edu.cn/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1417320" cy="310896"/>
          </a:xfrm>
          <a:prstGeom prst="rect">
            <a:avLst/>
          </a:prstGeom>
          <a:solidFill>
            <a:srgbClr val="B80C0C"/>
          </a:solidFill>
          <a:ln>
            <a:solidFill>
              <a:srgbClr val="B8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imHei"/>
              </a:rPr>
              <a:t>研究缺口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149840" cy="777240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181818"/>
                </a:solidFill>
                <a:latin typeface="SimSun"/>
              </a:rPr>
              <a:t>既有研究较多关注政府间关系、地方政府行为和政策结果，但对政府内部上下级部门如何具体互动、协商和讨价还价的机制分析不足。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063240"/>
            <a:ext cx="3246120" cy="1234440"/>
          </a:xfrm>
          <a:prstGeom prst="rect">
            <a:avLst/>
          </a:prstGeom>
          <a:solidFill>
            <a:srgbClr val="F8F8F8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3172968"/>
            <a:ext cx="2953512" cy="27432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500" b="1">
                <a:solidFill>
                  <a:srgbClr val="B80C0C"/>
                </a:solidFill>
                <a:latin typeface="SimHei"/>
              </a:rPr>
              <a:t>组织背景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538728"/>
            <a:ext cx="2953512" cy="66751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环境政策执行依赖上级监管部门与下级执行部门之间的委托—代理关系。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063240"/>
            <a:ext cx="3246120" cy="1234440"/>
          </a:xfrm>
          <a:prstGeom prst="rect">
            <a:avLst/>
          </a:prstGeom>
          <a:solidFill>
            <a:srgbClr val="F8F8F8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72968"/>
            <a:ext cx="2953512" cy="27432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500" b="1">
                <a:solidFill>
                  <a:srgbClr val="B80C0C"/>
                </a:solidFill>
                <a:latin typeface="SimHei"/>
              </a:rPr>
              <a:t>核心矛盾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538728"/>
            <a:ext cx="2953512" cy="66751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上级追求政策目标与监管可控；下级面对资源约束、地方压力和执行成本。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063240"/>
            <a:ext cx="3246120" cy="1234440"/>
          </a:xfrm>
          <a:prstGeom prst="rect">
            <a:avLst/>
          </a:prstGeom>
          <a:solidFill>
            <a:srgbClr val="F8F8F8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3172968"/>
            <a:ext cx="2953512" cy="27432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500" b="1">
                <a:solidFill>
                  <a:srgbClr val="B80C0C"/>
                </a:solidFill>
                <a:latin typeface="SimHei"/>
              </a:rPr>
              <a:t>分析价值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538728"/>
            <a:ext cx="2953512" cy="66751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把“执行偏差”转化为可分析的策略选择和博弈过程。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11480"/>
            <a:ext cx="201168" cy="621792"/>
          </a:xfrm>
          <a:prstGeom prst="rect">
            <a:avLst/>
          </a:prstGeom>
          <a:solidFill>
            <a:srgbClr val="B80C0C"/>
          </a:solidFill>
          <a:ln>
            <a:solidFill>
              <a:srgbClr val="B8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804672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2600" b="1">
                <a:solidFill>
                  <a:srgbClr val="B80C0C"/>
                </a:solidFill>
                <a:latin typeface="SimHei"/>
              </a:rPr>
              <a:t>理论模型：上下级谈判的序贯过程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896112"/>
            <a:ext cx="50292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900" b="0">
                <a:solidFill>
                  <a:srgbClr val="969696"/>
                </a:solidFill>
                <a:latin typeface="SimSun"/>
              </a:rPr>
              <a:t>Model Figure：选择论文中最核心的理论模型图并解释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411480"/>
            <a:ext cx="1691640" cy="6583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6236208"/>
            <a:ext cx="10881360" cy="9144"/>
          </a:xfrm>
          <a:prstGeom prst="rect">
            <a:avLst/>
          </a:prstGeom>
          <a:solidFill>
            <a:srgbClr val="EB5955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18504"/>
            <a:ext cx="2560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200" b="0">
                <a:solidFill>
                  <a:srgbClr val="969696"/>
                </a:solidFill>
                <a:latin typeface="SimSun"/>
              </a:rPr>
              <a:t>海纳百川，有容乃大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318504"/>
            <a:ext cx="19202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r"/>
            <a:r>
              <a:rPr sz="1200" b="0">
                <a:solidFill>
                  <a:srgbClr val="969696"/>
                </a:solidFill>
                <a:latin typeface="SimSun"/>
              </a:rPr>
              <a:t>www.scu.edu.cn/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188720"/>
            <a:ext cx="57150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86600" y="1261872"/>
            <a:ext cx="4434840" cy="1051560"/>
          </a:xfrm>
          <a:prstGeom prst="rect">
            <a:avLst/>
          </a:prstGeom>
          <a:solidFill>
            <a:srgbClr val="FCFCFC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5472" y="1353312"/>
            <a:ext cx="419709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400" b="1">
                <a:solidFill>
                  <a:srgbClr val="B80C0C"/>
                </a:solidFill>
                <a:latin typeface="SimHei"/>
              </a:rPr>
              <a:t>模型读法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5472" y="1673352"/>
            <a:ext cx="4197096" cy="548640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C1C1C"/>
                </a:solidFill>
                <a:latin typeface="SimSun"/>
              </a:rPr>
              <a:t>先看行动顺序：委托方先选择常规或动员模式，代理方随后选择谈判或准退出。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C1C1C"/>
                </a:solidFill>
                <a:latin typeface="SimSun"/>
              </a:rPr>
              <a:t>箭头表示策略空间，而不是单纯行政命令。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542032"/>
            <a:ext cx="4434840" cy="1097280"/>
          </a:xfrm>
          <a:prstGeom prst="rect">
            <a:avLst/>
          </a:prstGeom>
          <a:solidFill>
            <a:srgbClr val="FCFCFC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2633472"/>
            <a:ext cx="419709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400" b="1">
                <a:solidFill>
                  <a:srgbClr val="B80C0C"/>
                </a:solidFill>
                <a:latin typeface="SimHei"/>
              </a:rPr>
              <a:t>常规模式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953512"/>
            <a:ext cx="4197096" cy="594360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C1C1C"/>
                </a:solidFill>
                <a:latin typeface="SimSun"/>
              </a:rPr>
              <a:t>正式谈判：通过程序、文书、指标解释释放信号。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C1C1C"/>
                </a:solidFill>
                <a:latin typeface="SimSun"/>
              </a:rPr>
              <a:t>非正式谈判：通过关系、场合和时间延展进行协商。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3867912"/>
            <a:ext cx="4434840" cy="1097280"/>
          </a:xfrm>
          <a:prstGeom prst="rect">
            <a:avLst/>
          </a:prstGeom>
          <a:solidFill>
            <a:srgbClr val="FCFCFC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3959352"/>
            <a:ext cx="419709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400" b="1">
                <a:solidFill>
                  <a:srgbClr val="B80C0C"/>
                </a:solidFill>
                <a:latin typeface="SimHei"/>
              </a:rPr>
              <a:t>动员模式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4279392"/>
            <a:ext cx="4197096" cy="594360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C1C1C"/>
                </a:solidFill>
                <a:latin typeface="SimSun"/>
              </a:rPr>
              <a:t>上级承诺更强、压力更集中，代理方谈判空间被压缩。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C1C1C"/>
                </a:solidFill>
                <a:latin typeface="SimSun"/>
              </a:rPr>
              <a:t>更可能转向“准退出”，再进入后续执行博弈。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468112"/>
            <a:ext cx="10561320" cy="347472"/>
          </a:xfrm>
          <a:prstGeom prst="rect">
            <a:avLst/>
          </a:prstGeom>
          <a:solidFill>
            <a:srgbClr val="B80C0C"/>
          </a:solidFill>
          <a:ln>
            <a:solidFill>
              <a:srgbClr val="B8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536692"/>
            <a:ext cx="101498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imHei"/>
              </a:rPr>
              <a:t>解释重点：该图把“政策执行偏差”转化为可分析的序贯博弈，说明上下级互动是制度结构下的策略选择。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11480"/>
            <a:ext cx="201168" cy="621792"/>
          </a:xfrm>
          <a:prstGeom prst="rect">
            <a:avLst/>
          </a:prstGeom>
          <a:solidFill>
            <a:srgbClr val="B80C0C"/>
          </a:solidFill>
          <a:ln>
            <a:solidFill>
              <a:srgbClr val="B8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8138160" cy="530352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2500" b="1">
                <a:solidFill>
                  <a:srgbClr val="B80C0C"/>
                </a:solidFill>
                <a:latin typeface="SimHei"/>
              </a:rPr>
              <a:t>策略机制：三种应对方式的适用条件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932688"/>
            <a:ext cx="813816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SimSun"/>
              </a:rPr>
              <a:t>Distill：把命题压缩为可讲的比较表</a:t>
            </a:r>
          </a:p>
        </p:txBody>
      </p:sp>
      <p:pic>
        <p:nvPicPr>
          <p:cNvPr id="5" name="Picture 4" descr="sichuan_university_badge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411480"/>
            <a:ext cx="1737360" cy="6675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6236208"/>
            <a:ext cx="10881360" cy="9144"/>
          </a:xfrm>
          <a:prstGeom prst="rect">
            <a:avLst/>
          </a:prstGeom>
          <a:solidFill>
            <a:srgbClr val="EB5955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18504"/>
            <a:ext cx="256032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100" b="0">
                <a:solidFill>
                  <a:srgbClr val="919191"/>
                </a:solidFill>
                <a:latin typeface="SimSun"/>
              </a:rPr>
              <a:t>海纳百川，有容乃大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18504"/>
            <a:ext cx="192024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r"/>
            <a:r>
              <a:rPr sz="1100" b="0">
                <a:solidFill>
                  <a:srgbClr val="919191"/>
                </a:solidFill>
                <a:latin typeface="SimSun"/>
              </a:rPr>
              <a:t>www.scu.edu.cn/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324612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527048"/>
            <a:ext cx="2953512" cy="27432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500" b="1">
                <a:solidFill>
                  <a:srgbClr val="B80C0C"/>
                </a:solidFill>
                <a:latin typeface="SimHei"/>
              </a:rPr>
              <a:t>正式谈判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1892808"/>
            <a:ext cx="2953512" cy="281635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机制：合法性、合乎情理、信号博弈。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条件：信息模糊、代理方掌握私有信息，或涉及正式评价标准和多方利益。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形式：正式文书、程序性沟通、指标解释。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324612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527048"/>
            <a:ext cx="2953512" cy="27432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500" b="1">
                <a:solidFill>
                  <a:srgbClr val="B80C0C"/>
                </a:solidFill>
                <a:latin typeface="SimHei"/>
              </a:rPr>
              <a:t>非正式谈判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1892808"/>
            <a:ext cx="2953512" cy="281635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机制：社会关系、多维度谈判、时间延展。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条件：正式渠道信息不利，或需要绕开科层正式压力。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形式：非正式场合、关系网络、交换性承诺。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324612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527048"/>
            <a:ext cx="2953512" cy="27432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500" b="1">
                <a:solidFill>
                  <a:srgbClr val="B80C0C"/>
                </a:solidFill>
                <a:latin typeface="SimHei"/>
              </a:rPr>
              <a:t>准退出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1892808"/>
            <a:ext cx="2953512" cy="281635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机制：不直接对抗，转入下一轮执行过程。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条件：动员模式压缩谈判空间，正式/非正式能力较弱。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形式：表面接受，执行中注入地方解释和意图。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57800"/>
            <a:ext cx="10241280" cy="41148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ctr"/>
            <a:r>
              <a:rPr sz="1500" b="1">
                <a:solidFill>
                  <a:srgbClr val="181818"/>
                </a:solidFill>
                <a:latin typeface="SimHei"/>
              </a:rPr>
              <a:t>比较结论：三种策略不是道德评价，而是科层组织中信息、权威、时间和关系结构共同塑造的应对选择。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11480"/>
            <a:ext cx="201168" cy="621792"/>
          </a:xfrm>
          <a:prstGeom prst="rect">
            <a:avLst/>
          </a:prstGeom>
          <a:solidFill>
            <a:srgbClr val="B80C0C"/>
          </a:solidFill>
          <a:ln>
            <a:solidFill>
              <a:srgbClr val="B8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8138160" cy="530352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2500" b="1">
                <a:solidFill>
                  <a:srgbClr val="B80C0C"/>
                </a:solidFill>
                <a:latin typeface="SimHei"/>
              </a:rPr>
              <a:t>讨论与启示：从政策执行到组织过程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932688"/>
            <a:ext cx="813816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SimSun"/>
              </a:rPr>
              <a:t>QA：边界、贡献与延伸问题</a:t>
            </a:r>
          </a:p>
        </p:txBody>
      </p:sp>
      <p:pic>
        <p:nvPicPr>
          <p:cNvPr id="5" name="Picture 4" descr="sichuan_university_badge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411480"/>
            <a:ext cx="1737360" cy="6675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6236208"/>
            <a:ext cx="10881360" cy="9144"/>
          </a:xfrm>
          <a:prstGeom prst="rect">
            <a:avLst/>
          </a:prstGeom>
          <a:solidFill>
            <a:srgbClr val="EB5955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18504"/>
            <a:ext cx="256032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100" b="0">
                <a:solidFill>
                  <a:srgbClr val="919191"/>
                </a:solidFill>
                <a:latin typeface="SimSun"/>
              </a:rPr>
              <a:t>海纳百川，有容乃大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18504"/>
            <a:ext cx="192024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r"/>
            <a:r>
              <a:rPr sz="1100" b="0">
                <a:solidFill>
                  <a:srgbClr val="919191"/>
                </a:solidFill>
                <a:latin typeface="SimSun"/>
              </a:rPr>
              <a:t>www.scu.edu.cn/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0749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527048"/>
            <a:ext cx="4782312" cy="27432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500" b="1">
                <a:solidFill>
                  <a:srgbClr val="B80C0C"/>
                </a:solidFill>
                <a:latin typeface="SimHei"/>
              </a:rPr>
              <a:t>理论贡献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892808"/>
            <a:ext cx="4782312" cy="66751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把政府内部谈判从经验现象转化为序贯模型，区分上级启动模式与下级应对策略。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0749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527048"/>
            <a:ext cx="4782312" cy="27432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500" b="1">
                <a:solidFill>
                  <a:srgbClr val="B80C0C"/>
                </a:solidFill>
                <a:latin typeface="SimHei"/>
              </a:rPr>
              <a:t>实证意义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892808"/>
            <a:ext cx="4782312" cy="66751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为解释环境政策执行中的变通、拖延、协商和地方化解释提供概念工具。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71800"/>
            <a:ext cx="50749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081528"/>
            <a:ext cx="4782312" cy="27432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500" b="1">
                <a:solidFill>
                  <a:srgbClr val="B80C0C"/>
                </a:solidFill>
                <a:latin typeface="SimHei"/>
              </a:rPr>
              <a:t>模型边界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447288"/>
            <a:ext cx="4782312" cy="66751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现实中常规与动员可能并行；代理方也可能混合使用正式与非正式谈判。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50749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B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3081528"/>
            <a:ext cx="4782312" cy="274320"/>
          </a:xfrm>
          <a:prstGeom prst="rect">
            <a:avLst/>
          </a:prstGeom>
          <a:noFill/>
        </p:spPr>
        <p:txBody>
          <a:bodyPr wrap="square" lIns="64008" rIns="64008" tIns="36576" bIns="36576">
            <a:noAutofit/>
          </a:bodyPr>
          <a:lstStyle/>
          <a:p>
            <a:pPr algn="l"/>
            <a:r>
              <a:rPr sz="1500" b="1">
                <a:solidFill>
                  <a:srgbClr val="B80C0C"/>
                </a:solidFill>
                <a:latin typeface="SimHei"/>
              </a:rPr>
              <a:t>延伸问题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447288"/>
            <a:ext cx="4782312" cy="66751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不同政策领域中，哪些因素会改变“准退出”的成本和收益？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81818"/>
                </a:solidFill>
                <a:latin typeface="SimSun"/>
              </a:rPr>
              <a:t>数字化监管会压缩还是重塑非正式谈判空间？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00600"/>
            <a:ext cx="10469880" cy="685800"/>
          </a:xfrm>
          <a:prstGeom prst="rect">
            <a:avLst/>
          </a:prstGeom>
          <a:solidFill>
            <a:srgbClr val="B80C0C"/>
          </a:solidFill>
          <a:ln>
            <a:solidFill>
              <a:srgbClr val="B8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56048"/>
            <a:ext cx="10012680" cy="29260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SimSun"/>
              </a:rPr>
              <a:t>汇报结论：理解政策实施，不能只看上级命令和下级执行，还要看二者之间可被制度化分析的谈判过程。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