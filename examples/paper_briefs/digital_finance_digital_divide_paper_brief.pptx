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0" clrIdx="0"/>
  <p:cmAuthor id="2" name="Pu Fangqing" initials="PF" lastIdx="0" clrIdx="1"/>
  <p:cmAuthor id="3" name="batfish wen" initials="bw" lastIdx="0" clrIdx="2"/>
  <p:cmAuthor id="4" name="msipc" initials="m" lastIdx="0" clrIdx="3"/>
  <p:cmAuthor id="5" name="yaoyang" initials="y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475488"/>
          </a:xfrm>
          <a:prstGeom prst="rect">
            <a:avLst/>
          </a:prstGeom>
          <a:solidFill>
            <a:srgbClr val="DE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8" y="6382512"/>
            <a:ext cx="12191695" cy="475488"/>
          </a:xfrm>
          <a:prstGeom prst="rect">
            <a:avLst/>
          </a:prstGeom>
          <a:solidFill>
            <a:srgbClr val="0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81278" y="6510528"/>
            <a:ext cx="3858768" cy="18288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r">
              <a:spcAft>
                <a:spcPts val="150"/>
              </a:spcAft>
            </a:pPr>
            <a:r>
              <a:rPr sz="92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第十九章 包容性发展与全球数字鸿沟</a:t>
            </a:r>
            <a:endParaRPr sz="9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94910" y="6510528"/>
            <a:ext cx="329184" cy="18288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r">
              <a:spcAft>
                <a:spcPts val="150"/>
              </a:spcAft>
            </a:pPr>
            <a:r>
              <a:rPr sz="9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sz="9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366" y="676656"/>
            <a:ext cx="7772400" cy="347472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>
              <a:spcAft>
                <a:spcPts val="150"/>
              </a:spcAft>
            </a:pPr>
            <a:r>
              <a:rPr sz="2000" b="0">
                <a:solidFill>
                  <a:srgbClr val="BEBEBE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一、数字金融能否缩小数字鸿沟？</a:t>
            </a:r>
            <a:endParaRPr sz="2000" b="0">
              <a:solidFill>
                <a:srgbClr val="BEBEBE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4366" y="1225296"/>
            <a:ext cx="256032" cy="22860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>
              <a:spcAft>
                <a:spcPts val="150"/>
              </a:spcAft>
            </a:pPr>
            <a:r>
              <a:rPr sz="1520" b="1">
                <a:solidFill>
                  <a:srgbClr val="6C9D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➤</a:t>
            </a:r>
            <a:endParaRPr sz="1520" b="1">
              <a:solidFill>
                <a:srgbClr val="6C9D3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974" y="1225296"/>
            <a:ext cx="10424160" cy="329184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>
              <a:spcAft>
                <a:spcPts val="150"/>
              </a:spcAft>
            </a:pPr>
            <a:r>
              <a:rPr sz="152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核心问题：数字鸿沟会拉大收入与消费差距，数字金融能否反过来抑制这种差距？</a:t>
            </a:r>
            <a:endParaRPr sz="152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998" y="1609344"/>
            <a:ext cx="10424160" cy="31089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>
              <a:spcAft>
                <a:spcPts val="150"/>
              </a:spcAft>
            </a:pPr>
            <a:r>
              <a:rPr sz="1320" b="0">
                <a:solidFill>
                  <a:srgbClr val="9696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论文使用中国家庭追踪调查（CFPS）与中国数字普惠金融发展指数，考察收入、消费和就业结构的变化。</a:t>
            </a:r>
            <a:endParaRPr sz="1320" b="0">
              <a:solidFill>
                <a:srgbClr val="9696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686" y="2148840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>
              <a:spcAft>
                <a:spcPts val="150"/>
              </a:spcAft>
            </a:pPr>
            <a:r>
              <a:rPr sz="1600" b="1">
                <a:solidFill>
                  <a:srgbClr val="6C9D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实证发现</a:t>
            </a:r>
            <a:endParaRPr sz="1600" b="1">
              <a:solidFill>
                <a:srgbClr val="6C9D3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50126" y="2578608"/>
            <a:ext cx="2057400" cy="1024128"/>
          </a:xfrm>
          <a:prstGeom prst="roundRect">
            <a:avLst/>
          </a:prstGeom>
          <a:solidFill>
            <a:srgbClr val="F0F7EB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430" y="2697479"/>
            <a:ext cx="1764792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350" b="1">
                <a:solidFill>
                  <a:srgbClr val="6C9D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鸿沟存在</a:t>
            </a:r>
            <a:endParaRPr sz="1350" b="1">
              <a:solidFill>
                <a:srgbClr val="6C9D3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718" y="3017520"/>
            <a:ext cx="1728216" cy="49377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11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不能接触互联网的家庭，收入和消费处于劣势。</a:t>
            </a:r>
            <a:endParaRPr sz="111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816670" y="3090672"/>
            <a:ext cx="219456" cy="0"/>
          </a:xfrm>
          <a:prstGeom prst="line">
            <a:avLst/>
          </a:prstGeom>
          <a:ln w="25400">
            <a:solidFill>
              <a:srgbClr val="6C9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081845" y="2578608"/>
            <a:ext cx="2057400" cy="1024128"/>
          </a:xfrm>
          <a:prstGeom prst="roundRect">
            <a:avLst/>
          </a:prstGeom>
          <a:solidFill>
            <a:srgbClr val="F0F7EB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28150" y="2697479"/>
            <a:ext cx="1764792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350" b="1">
                <a:solidFill>
                  <a:srgbClr val="6C9D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数字金融增收</a:t>
            </a:r>
            <a:endParaRPr sz="1350" b="1">
              <a:solidFill>
                <a:srgbClr val="6C9D3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46438" y="3017520"/>
            <a:ext cx="1728216" cy="49377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11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数字金融发展显著提升居民收入与消费。</a:t>
            </a:r>
            <a:endParaRPr sz="111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5148390" y="3090672"/>
            <a:ext cx="219455" cy="0"/>
          </a:xfrm>
          <a:prstGeom prst="line">
            <a:avLst/>
          </a:prstGeom>
          <a:ln w="25400">
            <a:solidFill>
              <a:srgbClr val="6C9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13566" y="2578608"/>
            <a:ext cx="2057400" cy="1024128"/>
          </a:xfrm>
          <a:prstGeom prst="roundRect">
            <a:avLst/>
          </a:prstGeom>
          <a:solidFill>
            <a:srgbClr val="F0F7EB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59870" y="2697479"/>
            <a:ext cx="1764792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350" b="1">
                <a:solidFill>
                  <a:srgbClr val="6C9D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弱势群体受益</a:t>
            </a:r>
            <a:endParaRPr sz="1350" b="1">
              <a:solidFill>
                <a:srgbClr val="6C9D3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578158" y="3017520"/>
            <a:ext cx="1728216" cy="49377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11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效果尤其体现在无法接触互联网的家庭。</a:t>
            </a:r>
            <a:endParaRPr sz="111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686" y="3968496"/>
            <a:ext cx="2011680" cy="256032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>
              <a:spcAft>
                <a:spcPts val="150"/>
              </a:spcAft>
            </a:pPr>
            <a:r>
              <a:rPr sz="1600" b="1">
                <a:solidFill>
                  <a:srgbClr val="B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作用机制</a:t>
            </a:r>
            <a:endParaRPr sz="1600" b="1">
              <a:solidFill>
                <a:srgbClr val="B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50126" y="4370832"/>
            <a:ext cx="2057400" cy="1024128"/>
          </a:xfrm>
          <a:prstGeom prst="roundRect">
            <a:avLst/>
          </a:prstGeom>
          <a:solidFill>
            <a:srgbClr val="FAF4E1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6430" y="4489704"/>
            <a:ext cx="1764792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350" b="1">
                <a:solidFill>
                  <a:srgbClr val="B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就业转型</a:t>
            </a:r>
            <a:endParaRPr sz="1350" b="1">
              <a:solidFill>
                <a:srgbClr val="B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718" y="4809744"/>
            <a:ext cx="1728216" cy="49377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11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农业劳动力向非农部门转移，工资性收入提高。</a:t>
            </a:r>
            <a:endParaRPr sz="111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2816670" y="4882896"/>
            <a:ext cx="219456" cy="0"/>
          </a:xfrm>
          <a:prstGeom prst="line">
            <a:avLst/>
          </a:prstGeom>
          <a:ln w="25400">
            <a:solidFill>
              <a:srgbClr val="B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081845" y="4370832"/>
            <a:ext cx="2057400" cy="1024128"/>
          </a:xfrm>
          <a:prstGeom prst="roundRect">
            <a:avLst/>
          </a:prstGeom>
          <a:solidFill>
            <a:srgbClr val="FAF4E1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28150" y="4489704"/>
            <a:ext cx="1764792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350" b="1">
                <a:solidFill>
                  <a:srgbClr val="B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经营改善</a:t>
            </a:r>
            <a:endParaRPr sz="1350" b="1">
              <a:solidFill>
                <a:srgbClr val="B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46438" y="4809744"/>
            <a:ext cx="1728216" cy="49377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11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合作社、邮政和电商渠道提升农业经营性收入。</a:t>
            </a:r>
            <a:endParaRPr sz="111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148390" y="4882896"/>
            <a:ext cx="219455" cy="0"/>
          </a:xfrm>
          <a:prstGeom prst="line">
            <a:avLst/>
          </a:prstGeom>
          <a:ln w="25400">
            <a:solidFill>
              <a:srgbClr val="B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413566" y="4370832"/>
            <a:ext cx="2057400" cy="1024128"/>
          </a:xfrm>
          <a:prstGeom prst="roundRect">
            <a:avLst/>
          </a:prstGeom>
          <a:solidFill>
            <a:srgbClr val="FAF4E1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559870" y="4489704"/>
            <a:ext cx="1764792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350" b="1">
                <a:solidFill>
                  <a:srgbClr val="B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消费扩大</a:t>
            </a:r>
            <a:endParaRPr sz="1350" b="1">
              <a:solidFill>
                <a:srgbClr val="B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578158" y="4809744"/>
            <a:ext cx="1728216" cy="49377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11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收入增加带动消费，形成内需扩张效应。</a:t>
            </a:r>
            <a:endParaRPr sz="111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909878" y="2148840"/>
            <a:ext cx="3520440" cy="3246120"/>
          </a:xfrm>
          <a:prstGeom prst="roundRect">
            <a:avLst/>
          </a:prstGeom>
          <a:solidFill>
            <a:srgbClr val="ECF4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74470" y="2313432"/>
            <a:ext cx="3191256" cy="22860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450" b="1">
                <a:solidFill>
                  <a:srgbClr val="04345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一句话抓论文</a:t>
            </a:r>
            <a:endParaRPr sz="1450" b="1">
              <a:solidFill>
                <a:srgbClr val="04345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8239062" y="2651760"/>
            <a:ext cx="2862072" cy="0"/>
          </a:xfrm>
          <a:prstGeom prst="line">
            <a:avLst/>
          </a:prstGeom>
          <a:ln w="25400">
            <a:solidFill>
              <a:srgbClr val="DEB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138478" y="2862072"/>
            <a:ext cx="3063240" cy="233172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>
              <a:spcAft>
                <a:spcPts val="150"/>
              </a:spcAft>
            </a:pPr>
            <a:r>
              <a:rPr sz="122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中国特色数字金融不是简单依靠个人上网。</a:t>
            </a:r>
            <a:endParaRPr sz="122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Aft>
                <a:spcPts val="150"/>
              </a:spcAft>
            </a:pPr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Aft>
                <a:spcPts val="150"/>
              </a:spcAft>
            </a:pPr>
            <a:r>
              <a:rPr sz="122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它通过基础设施、脱贫攻坚、合作社与普惠金融的制度组合，把数字红利间接传递给弱势家庭。</a:t>
            </a:r>
            <a:endParaRPr sz="122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475488"/>
          </a:xfrm>
          <a:prstGeom prst="rect">
            <a:avLst/>
          </a:prstGeom>
          <a:solidFill>
            <a:srgbClr val="DEB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8" y="6382512"/>
            <a:ext cx="12191695" cy="475488"/>
          </a:xfrm>
          <a:prstGeom prst="rect">
            <a:avLst/>
          </a:prstGeom>
          <a:solidFill>
            <a:srgbClr val="04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81278" y="6510528"/>
            <a:ext cx="3858768" cy="18288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r">
              <a:spcAft>
                <a:spcPts val="150"/>
              </a:spcAft>
            </a:pPr>
            <a:r>
              <a:rPr sz="92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第十九章 包容性发展与全球数字鸿沟</a:t>
            </a:r>
            <a:endParaRPr sz="92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94910" y="6510528"/>
            <a:ext cx="329184" cy="18288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r">
              <a:spcAft>
                <a:spcPts val="150"/>
              </a:spcAft>
            </a:pPr>
            <a:r>
              <a:rPr sz="9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sz="9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366" y="676656"/>
            <a:ext cx="7772400" cy="347472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>
              <a:spcAft>
                <a:spcPts val="150"/>
              </a:spcAft>
            </a:pPr>
            <a:r>
              <a:rPr sz="2000" b="0">
                <a:solidFill>
                  <a:srgbClr val="BEBEB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二、中国特色：从“上网差距”到“共同富裕”</a:t>
            </a:r>
            <a:endParaRPr sz="2000" b="0">
              <a:solidFill>
                <a:srgbClr val="BEBEB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4366" y="1225296"/>
            <a:ext cx="256032" cy="22860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>
              <a:spcAft>
                <a:spcPts val="150"/>
              </a:spcAft>
            </a:pPr>
            <a:r>
              <a:rPr sz="1520" b="1">
                <a:solidFill>
                  <a:srgbClr val="6C9D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➤</a:t>
            </a:r>
            <a:endParaRPr sz="1520" b="1">
              <a:solidFill>
                <a:srgbClr val="6C9D3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974" y="1225296"/>
            <a:ext cx="10424160" cy="329184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>
              <a:spcAft>
                <a:spcPts val="150"/>
              </a:spcAft>
            </a:pPr>
            <a:r>
              <a:rPr sz="152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文章结论：数字金融有助于缩小一级数字鸿沟的负面影响，但不能忽视二级数字鸿沟和金融风险。</a:t>
            </a:r>
            <a:endParaRPr sz="152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998" y="1609344"/>
            <a:ext cx="10424160" cy="31089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>
              <a:spcAft>
                <a:spcPts val="150"/>
              </a:spcAft>
            </a:pPr>
            <a:r>
              <a:rPr sz="1320" b="0">
                <a:solidFill>
                  <a:srgbClr val="96969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课堂理解重点：包容性发展不是只看技术覆盖，而要看弱势群体能否获得收入、就业和消费改善。</a:t>
            </a:r>
            <a:endParaRPr sz="1320" b="0">
              <a:solidFill>
                <a:srgbClr val="96969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7246" y="2304288"/>
            <a:ext cx="1874519" cy="896112"/>
          </a:xfrm>
          <a:prstGeom prst="roundRect">
            <a:avLst/>
          </a:prstGeom>
          <a:solidFill>
            <a:srgbClr val="F0F7EB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550" y="2423160"/>
            <a:ext cx="1581911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350" b="1">
                <a:solidFill>
                  <a:srgbClr val="6C9D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公共投入</a:t>
            </a:r>
            <a:endParaRPr sz="1350" b="1">
              <a:solidFill>
                <a:srgbClr val="6C9D3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838" y="274320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05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5G、光纤</a:t>
            </a:r>
            <a:endParaRPr sz="105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spcAft>
                <a:spcPts val="150"/>
              </a:spcAft>
            </a:pPr>
            <a:r>
              <a:rPr sz="105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网络扶贫</a:t>
            </a:r>
            <a:endParaRPr sz="105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2432622" y="2761488"/>
            <a:ext cx="256032" cy="0"/>
          </a:xfrm>
          <a:prstGeom prst="line">
            <a:avLst/>
          </a:prstGeom>
          <a:ln w="25400">
            <a:solidFill>
              <a:srgbClr val="6C9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16670" y="2304288"/>
            <a:ext cx="1874519" cy="896112"/>
          </a:xfrm>
          <a:prstGeom prst="roundRect">
            <a:avLst/>
          </a:prstGeom>
          <a:solidFill>
            <a:srgbClr val="F0F7EB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62974" y="2423160"/>
            <a:ext cx="1581911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350" b="1">
                <a:solidFill>
                  <a:srgbClr val="6C9D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制度承接</a:t>
            </a:r>
            <a:endParaRPr sz="1350" b="1">
              <a:solidFill>
                <a:srgbClr val="6C9D3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81262" y="274320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05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合作社</a:t>
            </a:r>
            <a:endParaRPr sz="105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150"/>
              </a:spcAft>
            </a:pPr>
            <a:r>
              <a:rPr sz="105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邮政体系</a:t>
            </a:r>
            <a:endParaRPr sz="105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682046" y="2761488"/>
            <a:ext cx="256032" cy="0"/>
          </a:xfrm>
          <a:prstGeom prst="line">
            <a:avLst/>
          </a:prstGeom>
          <a:ln w="25400">
            <a:solidFill>
              <a:srgbClr val="6C9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66094" y="2304288"/>
            <a:ext cx="1874519" cy="896112"/>
          </a:xfrm>
          <a:prstGeom prst="roundRect">
            <a:avLst/>
          </a:prstGeom>
          <a:solidFill>
            <a:srgbClr val="F0F7EB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12398" y="2423160"/>
            <a:ext cx="1581911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350" b="1">
                <a:solidFill>
                  <a:srgbClr val="6C9D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数字金融</a:t>
            </a:r>
            <a:endParaRPr sz="1350" b="1">
              <a:solidFill>
                <a:srgbClr val="6C9D3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30686" y="274320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05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普惠信贷</a:t>
            </a:r>
            <a:endParaRPr sz="105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150"/>
              </a:spcAft>
            </a:pPr>
            <a:r>
              <a:rPr sz="105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移动支付</a:t>
            </a:r>
            <a:endParaRPr sz="105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931470" y="2761488"/>
            <a:ext cx="256031" cy="0"/>
          </a:xfrm>
          <a:prstGeom prst="line">
            <a:avLst/>
          </a:prstGeom>
          <a:ln w="25400">
            <a:solidFill>
              <a:srgbClr val="6C9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518" y="2304288"/>
            <a:ext cx="1874519" cy="896112"/>
          </a:xfrm>
          <a:prstGeom prst="roundRect">
            <a:avLst/>
          </a:prstGeom>
          <a:solidFill>
            <a:srgbClr val="FAF4E1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61822" y="2423160"/>
            <a:ext cx="1581911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350" b="1">
                <a:solidFill>
                  <a:srgbClr val="B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就业收入</a:t>
            </a:r>
            <a:endParaRPr sz="1350" b="1">
              <a:solidFill>
                <a:srgbClr val="B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80110" y="274320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05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非农转型</a:t>
            </a:r>
            <a:endParaRPr sz="105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150"/>
              </a:spcAft>
            </a:pPr>
            <a:r>
              <a:rPr sz="105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经营增收</a:t>
            </a:r>
            <a:endParaRPr sz="105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9180894" y="2761488"/>
            <a:ext cx="256032" cy="0"/>
          </a:xfrm>
          <a:prstGeom prst="line">
            <a:avLst/>
          </a:prstGeom>
          <a:ln w="25400">
            <a:solidFill>
              <a:srgbClr val="B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64942" y="2304288"/>
            <a:ext cx="1874519" cy="896112"/>
          </a:xfrm>
          <a:prstGeom prst="roundRect">
            <a:avLst/>
          </a:prstGeom>
          <a:solidFill>
            <a:srgbClr val="FAF4E1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11246" y="2423160"/>
            <a:ext cx="1581911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350" b="1">
                <a:solidFill>
                  <a:srgbClr val="B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消费与共富</a:t>
            </a:r>
            <a:endParaRPr sz="1350" b="1">
              <a:solidFill>
                <a:srgbClr val="B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29534" y="274320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05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扩大内需</a:t>
            </a:r>
            <a:endParaRPr sz="105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Aft>
                <a:spcPts val="150"/>
              </a:spcAft>
            </a:pPr>
            <a:r>
              <a:rPr sz="105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缩小差距</a:t>
            </a:r>
            <a:endParaRPr sz="105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67246" y="3611880"/>
            <a:ext cx="11045952" cy="530352"/>
          </a:xfrm>
          <a:prstGeom prst="roundRect">
            <a:avLst/>
          </a:prstGeom>
          <a:solidFill>
            <a:srgbClr val="FFF8E2"/>
          </a:solidFill>
          <a:ln w="12700">
            <a:solidFill>
              <a:srgbClr val="DEB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8998" y="3758184"/>
            <a:ext cx="10442448" cy="201168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>
              <a:spcAft>
                <a:spcPts val="150"/>
              </a:spcAft>
            </a:pPr>
            <a:r>
              <a:rPr sz="1320" b="1">
                <a:solidFill>
                  <a:srgbClr val="6F4B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课堂提醒：数字金融可以弥合鸿沟，也可能制造平台垄断、隐私泄露和金融风险，必须监管同步。</a:t>
            </a:r>
            <a:endParaRPr sz="1320" b="1">
              <a:solidFill>
                <a:srgbClr val="6F4B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7246" y="4480560"/>
            <a:ext cx="3657600" cy="256032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>
              <a:spcAft>
                <a:spcPts val="150"/>
              </a:spcAft>
            </a:pPr>
            <a:r>
              <a:rPr sz="1650" b="1">
                <a:solidFill>
                  <a:srgbClr val="04345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政策启发</a:t>
            </a:r>
            <a:endParaRPr sz="1650" b="1">
              <a:solidFill>
                <a:srgbClr val="04345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13550" y="4892040"/>
            <a:ext cx="3063240" cy="960120"/>
          </a:xfrm>
          <a:prstGeom prst="roundRect">
            <a:avLst/>
          </a:prstGeom>
          <a:solidFill>
            <a:srgbClr val="F0F7EB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9854" y="5010912"/>
            <a:ext cx="2770632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350" b="1">
                <a:solidFill>
                  <a:srgbClr val="6C9D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继续发展</a:t>
            </a:r>
            <a:endParaRPr sz="1350" b="1">
              <a:solidFill>
                <a:srgbClr val="6C9D3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78142" y="5330952"/>
            <a:ext cx="2734056" cy="429768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11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推进数字金融与数字基础设施，释放普惠效应。</a:t>
            </a:r>
            <a:endParaRPr sz="111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554030" y="4892040"/>
            <a:ext cx="3063240" cy="960120"/>
          </a:xfrm>
          <a:prstGeom prst="roundRect">
            <a:avLst/>
          </a:prstGeom>
          <a:solidFill>
            <a:srgbClr val="ECF4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00334" y="5010912"/>
            <a:ext cx="2770632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350" b="1">
                <a:solidFill>
                  <a:srgbClr val="04345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补齐能力</a:t>
            </a:r>
            <a:endParaRPr sz="1350" b="1">
              <a:solidFill>
                <a:srgbClr val="04345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18622" y="5330952"/>
            <a:ext cx="2734056" cy="429768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11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关注二级数字鸿沟，提升数字素养和风险识别能力。</a:t>
            </a:r>
            <a:endParaRPr sz="111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394510" y="4892040"/>
            <a:ext cx="3063240" cy="960120"/>
          </a:xfrm>
          <a:prstGeom prst="roundRect">
            <a:avLst/>
          </a:prstGeom>
          <a:solidFill>
            <a:srgbClr val="F0F7EB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40814" y="5010912"/>
            <a:ext cx="2770632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350" b="1">
                <a:solidFill>
                  <a:srgbClr val="6C9D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强化监管</a:t>
            </a:r>
            <a:endParaRPr sz="1350" b="1">
              <a:solidFill>
                <a:srgbClr val="6C9D3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59102" y="5330952"/>
            <a:ext cx="2734056" cy="429768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ctr">
              <a:spcAft>
                <a:spcPts val="150"/>
              </a:spcAft>
            </a:pPr>
            <a:r>
              <a:rPr sz="1110" b="0">
                <a:solidFill>
                  <a:srgbClr val="20202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反垄断、隐私保护、监管沙盒和系统性风险防控并重。</a:t>
            </a:r>
            <a:endParaRPr sz="1110" b="0">
              <a:solidFill>
                <a:srgbClr val="20202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58686" y="5989320"/>
            <a:ext cx="10835640" cy="219456"/>
          </a:xfrm>
          <a:prstGeom prst="rect">
            <a:avLst/>
          </a:prstGeom>
          <a:noFill/>
        </p:spPr>
        <p:txBody>
          <a:bodyPr wrap="square" lIns="27432" tIns="18288" rIns="27432" bIns="18288" anchor="t"/>
          <a:lstStyle/>
          <a:p>
            <a:pPr algn="l">
              <a:spcAft>
                <a:spcPts val="150"/>
              </a:spcAft>
            </a:pPr>
            <a:r>
              <a:rPr sz="1220" b="0">
                <a:solidFill>
                  <a:srgbClr val="96969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讨论题：如果家庭不上网，数字金融为什么仍可能提高其收入？这种“间接红利”依赖哪些制度条件？</a:t>
            </a:r>
            <a:endParaRPr sz="1220" b="0">
              <a:solidFill>
                <a:srgbClr val="96969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WPS 演示</Application>
  <PresentationFormat>宽屏</PresentationFormat>
  <Paragraphs>101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王君也</cp:lastModifiedBy>
  <cp:revision>157</cp:revision>
  <dcterms:created xsi:type="dcterms:W3CDTF">2019-06-19T02:08:00Z</dcterms:created>
  <dcterms:modified xsi:type="dcterms:W3CDTF">2026-05-27T18:11:23Z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11E8A0BE83FA41F28D1FAEF8A667CA46_11</vt:lpwstr>
  </property>
</Properties>
</file>