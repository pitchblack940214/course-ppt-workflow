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877824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2300" b="1">
                <a:solidFill>
                  <a:srgbClr val="3F70C4"/>
                </a:solidFill>
                <a:latin typeface="SimHei"/>
              </a:rPr>
              <a:t>开放型通道经济：论文问题与分析框架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56616"/>
            <a:ext cx="15087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000" b="0">
                <a:solidFill>
                  <a:srgbClr val="585858"/>
                </a:solidFill>
                <a:latin typeface="SimSun"/>
              </a:rPr>
              <a:t>论文解读 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6272784"/>
            <a:ext cx="9646920" cy="73152"/>
          </a:xfrm>
          <a:prstGeom prst="rect">
            <a:avLst/>
          </a:prstGeom>
          <a:solidFill>
            <a:srgbClr val="3F70C4"/>
          </a:solidFill>
          <a:ln>
            <a:solidFill>
              <a:srgbClr val="3F7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6199632"/>
            <a:ext cx="658368" cy="146304"/>
          </a:xfrm>
          <a:prstGeom prst="rect">
            <a:avLst/>
          </a:prstGeom>
          <a:solidFill>
            <a:srgbClr val="3F70C4"/>
          </a:solidFill>
          <a:ln>
            <a:solidFill>
              <a:srgbClr val="3F7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96112"/>
            <a:ext cx="108813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SimSun"/>
              </a:rPr>
              <a:t>余川江等（2022）围绕“西部陆海新通道”如何从物流通道升级为开放型通道经济发展轴，构建国内省域与国际竞争互补的双尺度分析。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3429000" cy="1325880"/>
          </a:xfrm>
          <a:prstGeom prst="rect">
            <a:avLst/>
          </a:prstGeom>
          <a:solidFill>
            <a:srgbClr val="EFF5FE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63624"/>
            <a:ext cx="319125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研究问题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3191256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通道不是单纯交通线路，而是连接区域开放、产业分工和国际合作的经济组织方式。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核心追问：如何把“出海通道”转化为西部开放发展的聚合轴？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481328"/>
            <a:ext cx="3429000" cy="1325880"/>
          </a:xfrm>
          <a:prstGeom prst="rect">
            <a:avLst/>
          </a:prstGeom>
          <a:solidFill>
            <a:srgbClr val="F0F8F1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563624"/>
            <a:ext cx="319125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3A744B"/>
                </a:solidFill>
                <a:latin typeface="SimHei"/>
              </a:rPr>
              <a:t>理论支撑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883664"/>
            <a:ext cx="3191256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点轴理论解释通道如何串联增长极和区域经济联系。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国际贸易理论与新经济地理解释开放、分工和产业集聚。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481328"/>
            <a:ext cx="3429000" cy="1325880"/>
          </a:xfrm>
          <a:prstGeom prst="rect">
            <a:avLst/>
          </a:prstGeom>
          <a:solidFill>
            <a:srgbClr val="FFF7EB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63624"/>
            <a:ext cx="319125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965C1C"/>
                </a:solidFill>
                <a:latin typeface="SimHei"/>
              </a:rPr>
              <a:t>分析对象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83664"/>
            <a:ext cx="3191256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国内：西部陆海新通道沿线省域开放水平和经济联系强度。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国际：中国与东盟国家的贸易竞争、互补和产业分工关系。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154680"/>
            <a:ext cx="1280160" cy="310896"/>
          </a:xfrm>
          <a:prstGeom prst="rect">
            <a:avLst/>
          </a:prstGeom>
          <a:solidFill>
            <a:srgbClr val="3F70C4"/>
          </a:solidFill>
          <a:ln>
            <a:solidFill>
              <a:srgbClr val="3F7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200400"/>
            <a:ext cx="1188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imHei"/>
              </a:rPr>
              <a:t>逻辑链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639312"/>
            <a:ext cx="2057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1C407D"/>
                </a:solidFill>
                <a:latin typeface="SimHei"/>
              </a:rPr>
              <a:t>通道建设
降低开放成本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3639312"/>
            <a:ext cx="2057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1C407D"/>
                </a:solidFill>
                <a:latin typeface="SimHei"/>
              </a:rPr>
              <a:t>空间重组
形成点-轴结构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4608" y="3639312"/>
            <a:ext cx="2057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1C407D"/>
                </a:solidFill>
                <a:latin typeface="SimHei"/>
              </a:rPr>
              <a:t>产业分工
竞争互补并存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0296" y="3639312"/>
            <a:ext cx="2057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1C407D"/>
                </a:solidFill>
                <a:latin typeface="SimHei"/>
              </a:rPr>
              <a:t>物流贸易
双向畅通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3639312"/>
            <a:ext cx="2057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1C407D"/>
                </a:solidFill>
                <a:latin typeface="SimHei"/>
              </a:rPr>
              <a:t>机制协同
区域开放升级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3822191"/>
            <a:ext cx="22860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600" b="1">
                <a:solidFill>
                  <a:srgbClr val="3F70C4"/>
                </a:solidFill>
                <a:latin typeface="SimHe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822191"/>
            <a:ext cx="22860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600" b="1">
                <a:solidFill>
                  <a:srgbClr val="3F70C4"/>
                </a:solidFill>
                <a:latin typeface="SimHe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3822191"/>
            <a:ext cx="22860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600" b="1">
                <a:solidFill>
                  <a:srgbClr val="3F70C4"/>
                </a:solidFill>
                <a:latin typeface="SimHe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3822191"/>
            <a:ext cx="22860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600" b="1">
                <a:solidFill>
                  <a:srgbClr val="3F70C4"/>
                </a:solidFill>
                <a:latin typeface="SimHe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645152"/>
            <a:ext cx="5303520" cy="1005840"/>
          </a:xfrm>
          <a:prstGeom prst="rect">
            <a:avLst/>
          </a:prstGeom>
          <a:solidFill>
            <a:srgbClr val="F7F9FC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727448"/>
            <a:ext cx="506577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关键发现：国内尺度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047488"/>
            <a:ext cx="5065776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西南地区开放水平较高、省际联系更紧密，南向主轴形态已显现；西北地区开放水平和经济联系较弱，是点轴结构继续延展的潜力方向。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645152"/>
            <a:ext cx="5303520" cy="1005840"/>
          </a:xfrm>
          <a:prstGeom prst="rect">
            <a:avLst/>
          </a:prstGeom>
          <a:solidFill>
            <a:srgbClr val="F7F9FC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4727448"/>
            <a:ext cx="506577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关键发现：国际尺度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5047488"/>
            <a:ext cx="5065776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中国与东盟存在“竞争与互补并存”：与越南、新加坡、泰国等竞争较强；与文莱、缅甸、柬埔寨等互补空间更大。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877824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2300" b="1">
                <a:solidFill>
                  <a:srgbClr val="3F70C4"/>
                </a:solidFill>
                <a:latin typeface="SimHei"/>
              </a:rPr>
              <a:t>发展路径：从物流通道到开放发展轴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56616"/>
            <a:ext cx="15087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000" b="0">
                <a:solidFill>
                  <a:srgbClr val="585858"/>
                </a:solidFill>
                <a:latin typeface="SimSun"/>
              </a:rPr>
              <a:t>论文解读 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6272784"/>
            <a:ext cx="9646920" cy="73152"/>
          </a:xfrm>
          <a:prstGeom prst="rect">
            <a:avLst/>
          </a:prstGeom>
          <a:solidFill>
            <a:srgbClr val="3F70C4"/>
          </a:solidFill>
          <a:ln>
            <a:solidFill>
              <a:srgbClr val="3F7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6199632"/>
            <a:ext cx="658368" cy="146304"/>
          </a:xfrm>
          <a:prstGeom prst="rect">
            <a:avLst/>
          </a:prstGeom>
          <a:solidFill>
            <a:srgbClr val="3F70C4"/>
          </a:solidFill>
          <a:ln>
            <a:solidFill>
              <a:srgbClr val="3F7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96112"/>
            <a:ext cx="108813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SimSun"/>
              </a:rPr>
              <a:t>论文最终提出四条路径，重点是把“通道”理解为区域协调、产业协同、双向贸易和政策沟通共同作用的开放型经济平台。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5212080" cy="1234440"/>
          </a:xfrm>
          <a:prstGeom prst="rect">
            <a:avLst/>
          </a:prstGeom>
          <a:solidFill>
            <a:srgbClr val="EFF5FE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63624"/>
            <a:ext cx="497433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01 空间融合扩展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4974336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优化南向“一环”主轴：陕、川、渝、黔、滇、桂形成开放增长极。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推动西北“二环”衔接：增强西北与西南、陆上丝路与陆海通道联动。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81328"/>
            <a:ext cx="5212080" cy="1234440"/>
          </a:xfrm>
          <a:prstGeom prst="rect">
            <a:avLst/>
          </a:prstGeom>
          <a:solidFill>
            <a:srgbClr val="F0F8F1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563624"/>
            <a:ext cx="497433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3A744B"/>
                </a:solidFill>
                <a:latin typeface="SimHei"/>
              </a:rPr>
              <a:t>02 产业互补协同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883664"/>
            <a:ext cx="4974336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对新加坡、泰国、马来西亚、越南等，发展产业内贸易和水平分工。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对文莱、缅甸、柬埔寨、印尼、老挝等，发展产业间贸易和垂直分工。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5212080" cy="1234440"/>
          </a:xfrm>
          <a:prstGeom prst="rect">
            <a:avLst/>
          </a:prstGeom>
          <a:solidFill>
            <a:srgbClr val="FFF7EB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026664"/>
            <a:ext cx="497433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965C1C"/>
                </a:solidFill>
                <a:latin typeface="SimHei"/>
              </a:rPr>
              <a:t>03 贸易物流双向畅通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346704"/>
            <a:ext cx="4974336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从单向出口转向进出口双向繁荣，降低返程空载和运能不饱和。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推进铁、公、水、空多式联运，提升国际中转物流能力。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944368"/>
            <a:ext cx="5212080" cy="1234440"/>
          </a:xfrm>
          <a:prstGeom prst="rect">
            <a:avLst/>
          </a:prstGeom>
          <a:solidFill>
            <a:srgbClr val="F6F2FA"/>
          </a:solidFill>
          <a:ln>
            <a:solidFill>
              <a:srgbClr val="C2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026664"/>
            <a:ext cx="497433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5C3E91"/>
                </a:solidFill>
                <a:latin typeface="SimHei"/>
              </a:rPr>
              <a:t>04 区域协调机制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346704"/>
            <a:ext cx="4974336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建立覆盖国内沿线省份与东盟经济体的协商机制。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626"/>
                </a:solidFill>
                <a:latin typeface="SimSun"/>
              </a:rPr>
              <a:t>围绕通关一体化、跨区域交通、物流信息服务等形成制度协同。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507992"/>
            <a:ext cx="1280160" cy="310896"/>
          </a:xfrm>
          <a:prstGeom prst="rect">
            <a:avLst/>
          </a:prstGeom>
          <a:solidFill>
            <a:srgbClr val="1C407D"/>
          </a:solidFill>
          <a:ln>
            <a:solidFill>
              <a:srgbClr val="1C4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553712"/>
            <a:ext cx="1188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imHei"/>
              </a:rPr>
              <a:t>课堂结论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10328"/>
            <a:ext cx="1078992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62626"/>
                </a:solidFill>
                <a:latin typeface="SimSun"/>
              </a:rPr>
              <a:t>通道经济的核心不在“修路”本身，而在通过交通与制度连接，重塑区域空间、产业链和国际分工。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62626"/>
                </a:solidFill>
                <a:latin typeface="SimSun"/>
              </a:rPr>
              <a:t>对重庆/西部开放高地建设而言，西部陆海新通道既是物流基础设施，也是外向型产业组织和跨区域治理平台。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