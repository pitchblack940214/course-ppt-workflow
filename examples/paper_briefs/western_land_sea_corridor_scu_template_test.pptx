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58368" y="411480"/>
            <a:ext cx="201168" cy="621792"/>
          </a:xfrm>
          <a:prstGeom prst="rect">
            <a:avLst/>
          </a:prstGeom>
          <a:solidFill>
            <a:srgbClr val="B80C0C"/>
          </a:solidFill>
          <a:ln>
            <a:solidFill>
              <a:srgbClr val="B80C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57200"/>
            <a:ext cx="8046720" cy="566928"/>
          </a:xfrm>
          <a:prstGeom prst="rect">
            <a:avLst/>
          </a:prstGeom>
          <a:noFill/>
        </p:spPr>
        <p:txBody>
          <a:bodyPr wrap="square" lIns="54864" rIns="54864" tIns="27432" bIns="27432">
            <a:noAutofit/>
          </a:bodyPr>
          <a:lstStyle/>
          <a:p>
            <a:pPr algn="l"/>
            <a:r>
              <a:rPr sz="2800" b="1">
                <a:solidFill>
                  <a:srgbClr val="B80C0C"/>
                </a:solidFill>
                <a:latin typeface="SimHei"/>
              </a:rPr>
              <a:t>论文问题与研究框架</a:t>
            </a:r>
          </a:p>
        </p:txBody>
      </p:sp>
      <p:pic>
        <p:nvPicPr>
          <p:cNvPr id="4" name="Picture 3" descr="scu_logo_badge_crop.png"/>
          <p:cNvPicPr>
            <a:picLocks noChangeAspect="1"/>
          </p:cNvPicPr>
          <p:nvPr/>
        </p:nvPicPr>
        <p:blipFill>
          <a:blip r:embed="rId2"/>
          <a:stretch>
            <a:fillRect/>
          </a:stretch>
        </p:blipFill>
        <p:spPr>
          <a:xfrm>
            <a:off x="9720072" y="411480"/>
            <a:ext cx="1691640" cy="658368"/>
          </a:xfrm>
          <a:prstGeom prst="rect">
            <a:avLst/>
          </a:prstGeom>
        </p:spPr>
      </p:pic>
      <p:sp>
        <p:nvSpPr>
          <p:cNvPr id="5" name="Rectangle 4"/>
          <p:cNvSpPr/>
          <p:nvPr/>
        </p:nvSpPr>
        <p:spPr>
          <a:xfrm>
            <a:off x="658368" y="6236208"/>
            <a:ext cx="10881360" cy="9144"/>
          </a:xfrm>
          <a:prstGeom prst="rect">
            <a:avLst/>
          </a:prstGeom>
          <a:solidFill>
            <a:srgbClr val="EB5955"/>
          </a:solidFill>
          <a:ln>
            <a:solidFill>
              <a:srgbClr val="EB59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18504"/>
            <a:ext cx="2560320" cy="256032"/>
          </a:xfrm>
          <a:prstGeom prst="rect">
            <a:avLst/>
          </a:prstGeom>
          <a:noFill/>
        </p:spPr>
        <p:txBody>
          <a:bodyPr wrap="square" lIns="54864" rIns="54864" tIns="27432" bIns="27432">
            <a:noAutofit/>
          </a:bodyPr>
          <a:lstStyle/>
          <a:p>
            <a:pPr algn="l"/>
            <a:r>
              <a:rPr sz="1200" b="0">
                <a:solidFill>
                  <a:srgbClr val="969696"/>
                </a:solidFill>
                <a:latin typeface="SimSun"/>
              </a:rPr>
              <a:t>海纳百川，有容乃大</a:t>
            </a:r>
          </a:p>
        </p:txBody>
      </p:sp>
      <p:sp>
        <p:nvSpPr>
          <p:cNvPr id="7" name="TextBox 6"/>
          <p:cNvSpPr txBox="1"/>
          <p:nvPr/>
        </p:nvSpPr>
        <p:spPr>
          <a:xfrm>
            <a:off x="9646920" y="6318504"/>
            <a:ext cx="1920240" cy="256032"/>
          </a:xfrm>
          <a:prstGeom prst="rect">
            <a:avLst/>
          </a:prstGeom>
          <a:noFill/>
        </p:spPr>
        <p:txBody>
          <a:bodyPr wrap="square" lIns="54864" rIns="54864" tIns="27432" bIns="27432">
            <a:noAutofit/>
          </a:bodyPr>
          <a:lstStyle/>
          <a:p>
            <a:pPr algn="r"/>
            <a:r>
              <a:rPr sz="1200" b="0">
                <a:solidFill>
                  <a:srgbClr val="969696"/>
                </a:solidFill>
                <a:latin typeface="SimSun"/>
              </a:rPr>
              <a:t>www.scu.edu.cn/</a:t>
            </a:r>
          </a:p>
        </p:txBody>
      </p:sp>
      <p:sp>
        <p:nvSpPr>
          <p:cNvPr id="8" name="TextBox 7"/>
          <p:cNvSpPr txBox="1"/>
          <p:nvPr/>
        </p:nvSpPr>
        <p:spPr>
          <a:xfrm>
            <a:off x="1417320" y="1691640"/>
            <a:ext cx="4480560" cy="384048"/>
          </a:xfrm>
          <a:prstGeom prst="rect">
            <a:avLst/>
          </a:prstGeom>
          <a:noFill/>
        </p:spPr>
        <p:txBody>
          <a:bodyPr wrap="square" lIns="54864" rIns="54864" tIns="27432" bIns="27432">
            <a:noAutofit/>
          </a:bodyPr>
          <a:lstStyle/>
          <a:p>
            <a:pPr algn="l"/>
            <a:r>
              <a:rPr sz="2200" b="1">
                <a:solidFill>
                  <a:srgbClr val="B80C0C"/>
                </a:solidFill>
                <a:latin typeface="SimHei"/>
              </a:rPr>
              <a:t>核心问题</a:t>
            </a:r>
          </a:p>
        </p:txBody>
      </p:sp>
      <p:sp>
        <p:nvSpPr>
          <p:cNvPr id="9" name="Rectangle 8"/>
          <p:cNvSpPr/>
          <p:nvPr/>
        </p:nvSpPr>
        <p:spPr>
          <a:xfrm>
            <a:off x="658368" y="2331720"/>
            <a:ext cx="10835640" cy="2240280"/>
          </a:xfrm>
          <a:prstGeom prst="rect">
            <a:avLst/>
          </a:prstGeom>
          <a:solidFill>
            <a:srgbClr val="B80C0C"/>
          </a:solidFill>
          <a:ln>
            <a:solidFill>
              <a:srgbClr val="B80C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2606040"/>
            <a:ext cx="4800600" cy="1463040"/>
          </a:xfrm>
          <a:prstGeom prst="rect">
            <a:avLst/>
          </a:prstGeom>
          <a:noFill/>
        </p:spPr>
        <p:txBody>
          <a:bodyPr wrap="square" lIns="73152" rIns="73152">
            <a:noAutofit/>
          </a:bodyPr>
          <a:lstStyle/>
          <a:p>
            <a:pPr>
              <a:spcAft>
                <a:spcPts val="500"/>
              </a:spcAft>
            </a:pPr>
            <a:r>
              <a:rPr sz="1700">
                <a:solidFill>
                  <a:srgbClr val="FFFFFF"/>
                </a:solidFill>
                <a:latin typeface="SimSun"/>
              </a:rPr>
              <a:t>“西部陆海新通道”如何从交通物流线路升级为开放型通道经济发展轴？</a:t>
            </a:r>
          </a:p>
          <a:p>
            <a:pPr>
              <a:spcAft>
                <a:spcPts val="500"/>
              </a:spcAft>
            </a:pPr>
            <a:r>
              <a:rPr sz="1700">
                <a:solidFill>
                  <a:srgbClr val="FFFFFF"/>
                </a:solidFill>
                <a:latin typeface="SimSun"/>
              </a:rPr>
              <a:t>论文把通道建设放入国内区域经济联系与国际经贸竞争互补两个尺度中分析。</a:t>
            </a:r>
          </a:p>
        </p:txBody>
      </p:sp>
      <p:sp>
        <p:nvSpPr>
          <p:cNvPr id="11" name="Rectangle 10"/>
          <p:cNvSpPr/>
          <p:nvPr/>
        </p:nvSpPr>
        <p:spPr>
          <a:xfrm>
            <a:off x="6537960" y="1627632"/>
            <a:ext cx="3886200" cy="2194560"/>
          </a:xfrm>
          <a:prstGeom prst="rect">
            <a:avLst/>
          </a:prstGeom>
          <a:solidFill>
            <a:srgbClr val="FFFFFF"/>
          </a:solidFill>
          <a:ln>
            <a:solidFill>
              <a:srgbClr val="EB59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84264" y="1737360"/>
            <a:ext cx="3593592" cy="292608"/>
          </a:xfrm>
          <a:prstGeom prst="rect">
            <a:avLst/>
          </a:prstGeom>
          <a:noFill/>
        </p:spPr>
        <p:txBody>
          <a:bodyPr wrap="square" lIns="54864" rIns="54864" tIns="27432" bIns="27432">
            <a:noAutofit/>
          </a:bodyPr>
          <a:lstStyle/>
          <a:p>
            <a:pPr algn="l"/>
            <a:r>
              <a:rPr sz="1600" b="1">
                <a:solidFill>
                  <a:srgbClr val="B80C0C"/>
                </a:solidFill>
                <a:latin typeface="SimHei"/>
              </a:rPr>
              <a:t>理论基础</a:t>
            </a:r>
          </a:p>
        </p:txBody>
      </p:sp>
      <p:sp>
        <p:nvSpPr>
          <p:cNvPr id="13" name="TextBox 12"/>
          <p:cNvSpPr txBox="1"/>
          <p:nvPr/>
        </p:nvSpPr>
        <p:spPr>
          <a:xfrm>
            <a:off x="6684264" y="2103120"/>
            <a:ext cx="3593592" cy="1609344"/>
          </a:xfrm>
          <a:prstGeom prst="rect">
            <a:avLst/>
          </a:prstGeom>
          <a:noFill/>
        </p:spPr>
        <p:txBody>
          <a:bodyPr wrap="square" lIns="73152" rIns="73152">
            <a:noAutofit/>
          </a:bodyPr>
          <a:lstStyle/>
          <a:p>
            <a:pPr>
              <a:spcAft>
                <a:spcPts val="500"/>
              </a:spcAft>
            </a:pPr>
            <a:r>
              <a:rPr sz="1200">
                <a:solidFill>
                  <a:srgbClr val="181818"/>
                </a:solidFill>
                <a:latin typeface="SimSun"/>
              </a:rPr>
              <a:t>点轴理论：通道串联增长极，形成区域经济联系。</a:t>
            </a:r>
          </a:p>
          <a:p>
            <a:pPr>
              <a:spcAft>
                <a:spcPts val="500"/>
              </a:spcAft>
            </a:pPr>
            <a:r>
              <a:rPr sz="1200">
                <a:solidFill>
                  <a:srgbClr val="181818"/>
                </a:solidFill>
                <a:latin typeface="SimSun"/>
              </a:rPr>
              <a:t>国际贸易理论：比较优势、规模经济和产业分工共同解释开放效应。</a:t>
            </a:r>
          </a:p>
          <a:p>
            <a:pPr>
              <a:spcAft>
                <a:spcPts val="500"/>
              </a:spcAft>
            </a:pPr>
            <a:r>
              <a:rPr sz="1200">
                <a:solidFill>
                  <a:srgbClr val="181818"/>
                </a:solidFill>
                <a:latin typeface="SimSun"/>
              </a:rPr>
              <a:t>新经济地理：贸易成本下降会重塑产业集聚与空间格局。</a:t>
            </a:r>
          </a:p>
        </p:txBody>
      </p:sp>
      <p:sp>
        <p:nvSpPr>
          <p:cNvPr id="14" name="TextBox 13"/>
          <p:cNvSpPr txBox="1"/>
          <p:nvPr/>
        </p:nvSpPr>
        <p:spPr>
          <a:xfrm>
            <a:off x="868680" y="4892040"/>
            <a:ext cx="10241280" cy="640080"/>
          </a:xfrm>
          <a:prstGeom prst="rect">
            <a:avLst/>
          </a:prstGeom>
          <a:noFill/>
        </p:spPr>
        <p:txBody>
          <a:bodyPr wrap="square" lIns="54864" rIns="54864" tIns="27432" bIns="27432">
            <a:noAutofit/>
          </a:bodyPr>
          <a:lstStyle/>
          <a:p>
            <a:pPr algn="ctr"/>
            <a:r>
              <a:rPr sz="1400" b="1">
                <a:solidFill>
                  <a:srgbClr val="181818"/>
                </a:solidFill>
                <a:latin typeface="SimHei"/>
              </a:rPr>
              <a:t>分析主线：通道建设 → 开放成本下降 → 空间重组与产业分工 → 中国—东盟经贸协同 → 西部开放升级</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58368" y="411480"/>
            <a:ext cx="201168" cy="621792"/>
          </a:xfrm>
          <a:prstGeom prst="rect">
            <a:avLst/>
          </a:prstGeom>
          <a:solidFill>
            <a:srgbClr val="B80C0C"/>
          </a:solidFill>
          <a:ln>
            <a:solidFill>
              <a:srgbClr val="B80C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57200"/>
            <a:ext cx="8046720" cy="566928"/>
          </a:xfrm>
          <a:prstGeom prst="rect">
            <a:avLst/>
          </a:prstGeom>
          <a:noFill/>
        </p:spPr>
        <p:txBody>
          <a:bodyPr wrap="square" lIns="54864" rIns="54864" tIns="27432" bIns="27432">
            <a:noAutofit/>
          </a:bodyPr>
          <a:lstStyle/>
          <a:p>
            <a:pPr algn="l"/>
            <a:r>
              <a:rPr sz="2800" b="1">
                <a:solidFill>
                  <a:srgbClr val="B80C0C"/>
                </a:solidFill>
                <a:latin typeface="SimHei"/>
              </a:rPr>
              <a:t>主要发现：国内省域与国际关系</a:t>
            </a:r>
          </a:p>
        </p:txBody>
      </p:sp>
      <p:pic>
        <p:nvPicPr>
          <p:cNvPr id="4" name="Picture 3" descr="scu_logo_badge_crop.png"/>
          <p:cNvPicPr>
            <a:picLocks noChangeAspect="1"/>
          </p:cNvPicPr>
          <p:nvPr/>
        </p:nvPicPr>
        <p:blipFill>
          <a:blip r:embed="rId2"/>
          <a:stretch>
            <a:fillRect/>
          </a:stretch>
        </p:blipFill>
        <p:spPr>
          <a:xfrm>
            <a:off x="9720072" y="411480"/>
            <a:ext cx="1691640" cy="658368"/>
          </a:xfrm>
          <a:prstGeom prst="rect">
            <a:avLst/>
          </a:prstGeom>
        </p:spPr>
      </p:pic>
      <p:sp>
        <p:nvSpPr>
          <p:cNvPr id="5" name="Rectangle 4"/>
          <p:cNvSpPr/>
          <p:nvPr/>
        </p:nvSpPr>
        <p:spPr>
          <a:xfrm>
            <a:off x="658368" y="6236208"/>
            <a:ext cx="10881360" cy="9144"/>
          </a:xfrm>
          <a:prstGeom prst="rect">
            <a:avLst/>
          </a:prstGeom>
          <a:solidFill>
            <a:srgbClr val="EB5955"/>
          </a:solidFill>
          <a:ln>
            <a:solidFill>
              <a:srgbClr val="EB59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18504"/>
            <a:ext cx="2560320" cy="256032"/>
          </a:xfrm>
          <a:prstGeom prst="rect">
            <a:avLst/>
          </a:prstGeom>
          <a:noFill/>
        </p:spPr>
        <p:txBody>
          <a:bodyPr wrap="square" lIns="54864" rIns="54864" tIns="27432" bIns="27432">
            <a:noAutofit/>
          </a:bodyPr>
          <a:lstStyle/>
          <a:p>
            <a:pPr algn="l"/>
            <a:r>
              <a:rPr sz="1200" b="0">
                <a:solidFill>
                  <a:srgbClr val="969696"/>
                </a:solidFill>
                <a:latin typeface="SimSun"/>
              </a:rPr>
              <a:t>海纳百川，有容乃大</a:t>
            </a:r>
          </a:p>
        </p:txBody>
      </p:sp>
      <p:sp>
        <p:nvSpPr>
          <p:cNvPr id="7" name="TextBox 6"/>
          <p:cNvSpPr txBox="1"/>
          <p:nvPr/>
        </p:nvSpPr>
        <p:spPr>
          <a:xfrm>
            <a:off x="9646920" y="6318504"/>
            <a:ext cx="1920240" cy="256032"/>
          </a:xfrm>
          <a:prstGeom prst="rect">
            <a:avLst/>
          </a:prstGeom>
          <a:noFill/>
        </p:spPr>
        <p:txBody>
          <a:bodyPr wrap="square" lIns="54864" rIns="54864" tIns="27432" bIns="27432">
            <a:noAutofit/>
          </a:bodyPr>
          <a:lstStyle/>
          <a:p>
            <a:pPr algn="r"/>
            <a:r>
              <a:rPr sz="1200" b="0">
                <a:solidFill>
                  <a:srgbClr val="969696"/>
                </a:solidFill>
                <a:latin typeface="SimSun"/>
              </a:rPr>
              <a:t>www.scu.edu.cn/</a:t>
            </a:r>
          </a:p>
        </p:txBody>
      </p:sp>
      <p:sp>
        <p:nvSpPr>
          <p:cNvPr id="8" name="TextBox 7"/>
          <p:cNvSpPr txBox="1"/>
          <p:nvPr/>
        </p:nvSpPr>
        <p:spPr>
          <a:xfrm>
            <a:off x="868680" y="1417320"/>
            <a:ext cx="1920240" cy="3337560"/>
          </a:xfrm>
          <a:prstGeom prst="rect">
            <a:avLst/>
          </a:prstGeom>
          <a:noFill/>
        </p:spPr>
        <p:txBody>
          <a:bodyPr wrap="square" lIns="54864" rIns="54864" tIns="27432" bIns="27432">
            <a:noAutofit/>
          </a:bodyPr>
          <a:lstStyle/>
          <a:p>
            <a:pPr algn="ctr"/>
            <a:r>
              <a:rPr sz="2400" b="1">
                <a:solidFill>
                  <a:srgbClr val="B80C0C"/>
                </a:solidFill>
                <a:latin typeface="SimHei"/>
              </a:rPr>
              <a:t>二
元
尺
度
分
析</a:t>
            </a:r>
          </a:p>
        </p:txBody>
      </p:sp>
      <p:sp>
        <p:nvSpPr>
          <p:cNvPr id="9" name="Rectangle 8"/>
          <p:cNvSpPr/>
          <p:nvPr/>
        </p:nvSpPr>
        <p:spPr>
          <a:xfrm>
            <a:off x="2331720" y="1417320"/>
            <a:ext cx="18288" cy="3429000"/>
          </a:xfrm>
          <a:prstGeom prst="rect">
            <a:avLst/>
          </a:prstGeom>
          <a:solidFill>
            <a:srgbClr val="EB5955"/>
          </a:solidFill>
          <a:ln>
            <a:solidFill>
              <a:srgbClr val="EB59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1325880"/>
            <a:ext cx="6492240" cy="274320"/>
          </a:xfrm>
          <a:prstGeom prst="rect">
            <a:avLst/>
          </a:prstGeom>
          <a:noFill/>
        </p:spPr>
        <p:txBody>
          <a:bodyPr wrap="square" lIns="54864" rIns="54864" tIns="27432" bIns="27432">
            <a:noAutofit/>
          </a:bodyPr>
          <a:lstStyle/>
          <a:p>
            <a:pPr algn="l"/>
            <a:r>
              <a:rPr sz="1800" b="1">
                <a:solidFill>
                  <a:srgbClr val="B80C0C"/>
                </a:solidFill>
                <a:latin typeface="SimHei"/>
              </a:rPr>
              <a:t>国内尺度：西南主轴显现，西北延展不足</a:t>
            </a:r>
          </a:p>
        </p:txBody>
      </p:sp>
      <p:sp>
        <p:nvSpPr>
          <p:cNvPr id="11" name="TextBox 10"/>
          <p:cNvSpPr txBox="1"/>
          <p:nvPr/>
        </p:nvSpPr>
        <p:spPr>
          <a:xfrm>
            <a:off x="2971800" y="1783080"/>
            <a:ext cx="7498079" cy="1143000"/>
          </a:xfrm>
          <a:prstGeom prst="rect">
            <a:avLst/>
          </a:prstGeom>
          <a:noFill/>
        </p:spPr>
        <p:txBody>
          <a:bodyPr wrap="square" lIns="73152" rIns="73152">
            <a:noAutofit/>
          </a:bodyPr>
          <a:lstStyle/>
          <a:p>
            <a:pPr>
              <a:spcAft>
                <a:spcPts val="500"/>
              </a:spcAft>
            </a:pPr>
            <a:r>
              <a:rPr sz="1500">
                <a:solidFill>
                  <a:srgbClr val="181818"/>
                </a:solidFill>
                <a:latin typeface="SimSun"/>
              </a:rPr>
              <a:t>西南地区对外开放水平较高，省际经济联系更紧密。</a:t>
            </a:r>
          </a:p>
          <a:p>
            <a:pPr>
              <a:spcAft>
                <a:spcPts val="500"/>
              </a:spcAft>
            </a:pPr>
            <a:r>
              <a:rPr sz="1500">
                <a:solidFill>
                  <a:srgbClr val="181818"/>
                </a:solidFill>
                <a:latin typeface="SimSun"/>
              </a:rPr>
              <a:t>重庆、四川、陕西、贵州、云南、广西之间联系较强，“陕川渝黔滇桂”南向经济发展轴初步显现。</a:t>
            </a:r>
          </a:p>
          <a:p>
            <a:pPr>
              <a:spcAft>
                <a:spcPts val="500"/>
              </a:spcAft>
            </a:pPr>
            <a:r>
              <a:rPr sz="1500">
                <a:solidFill>
                  <a:srgbClr val="181818"/>
                </a:solidFill>
                <a:latin typeface="SimSun"/>
              </a:rPr>
              <a:t>西北地区内部及其与西南地区的联系较弱，是后续点轴延展的潜力空间。</a:t>
            </a:r>
          </a:p>
        </p:txBody>
      </p:sp>
      <p:sp>
        <p:nvSpPr>
          <p:cNvPr id="12" name="TextBox 11"/>
          <p:cNvSpPr txBox="1"/>
          <p:nvPr/>
        </p:nvSpPr>
        <p:spPr>
          <a:xfrm>
            <a:off x="2971800" y="3291840"/>
            <a:ext cx="6492240" cy="274320"/>
          </a:xfrm>
          <a:prstGeom prst="rect">
            <a:avLst/>
          </a:prstGeom>
          <a:noFill/>
        </p:spPr>
        <p:txBody>
          <a:bodyPr wrap="square" lIns="54864" rIns="54864" tIns="27432" bIns="27432">
            <a:noAutofit/>
          </a:bodyPr>
          <a:lstStyle/>
          <a:p>
            <a:pPr algn="l"/>
            <a:r>
              <a:rPr sz="1800" b="1">
                <a:solidFill>
                  <a:srgbClr val="B80C0C"/>
                </a:solidFill>
                <a:latin typeface="SimHei"/>
              </a:rPr>
              <a:t>国际尺度：中国—东盟竞争与互补并存</a:t>
            </a:r>
          </a:p>
        </p:txBody>
      </p:sp>
      <p:sp>
        <p:nvSpPr>
          <p:cNvPr id="13" name="TextBox 12"/>
          <p:cNvSpPr txBox="1"/>
          <p:nvPr/>
        </p:nvSpPr>
        <p:spPr>
          <a:xfrm>
            <a:off x="2971800" y="3749039"/>
            <a:ext cx="7498079" cy="1143000"/>
          </a:xfrm>
          <a:prstGeom prst="rect">
            <a:avLst/>
          </a:prstGeom>
          <a:noFill/>
        </p:spPr>
        <p:txBody>
          <a:bodyPr wrap="square" lIns="73152" rIns="73152">
            <a:noAutofit/>
          </a:bodyPr>
          <a:lstStyle/>
          <a:p>
            <a:pPr>
              <a:spcAft>
                <a:spcPts val="500"/>
              </a:spcAft>
            </a:pPr>
            <a:r>
              <a:rPr sz="1500">
                <a:solidFill>
                  <a:srgbClr val="181818"/>
                </a:solidFill>
                <a:latin typeface="SimSun"/>
              </a:rPr>
              <a:t>与越南、新加坡、泰国、马来西亚等经济体，出口结构接近，竞争性较强，但产业内贸易潜力也较大。</a:t>
            </a:r>
          </a:p>
          <a:p>
            <a:pPr>
              <a:spcAft>
                <a:spcPts val="500"/>
              </a:spcAft>
            </a:pPr>
            <a:r>
              <a:rPr sz="1500">
                <a:solidFill>
                  <a:srgbClr val="181818"/>
                </a:solidFill>
                <a:latin typeface="SimSun"/>
              </a:rPr>
              <a:t>与文莱、缅甸、柬埔寨、印尼、老挝等经济体，互补性更突出，适合发展垂直分工和产业间贸易。</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58368" y="411480"/>
            <a:ext cx="201168" cy="621792"/>
          </a:xfrm>
          <a:prstGeom prst="rect">
            <a:avLst/>
          </a:prstGeom>
          <a:solidFill>
            <a:srgbClr val="B80C0C"/>
          </a:solidFill>
          <a:ln>
            <a:solidFill>
              <a:srgbClr val="B80C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57200"/>
            <a:ext cx="8046720" cy="566928"/>
          </a:xfrm>
          <a:prstGeom prst="rect">
            <a:avLst/>
          </a:prstGeom>
          <a:noFill/>
        </p:spPr>
        <p:txBody>
          <a:bodyPr wrap="square" lIns="54864" rIns="54864" tIns="27432" bIns="27432">
            <a:noAutofit/>
          </a:bodyPr>
          <a:lstStyle/>
          <a:p>
            <a:pPr algn="l"/>
            <a:r>
              <a:rPr sz="2800" b="1">
                <a:solidFill>
                  <a:srgbClr val="B80C0C"/>
                </a:solidFill>
                <a:latin typeface="SimHei"/>
              </a:rPr>
              <a:t>发展路径与课堂结论</a:t>
            </a:r>
          </a:p>
        </p:txBody>
      </p:sp>
      <p:pic>
        <p:nvPicPr>
          <p:cNvPr id="4" name="Picture 3" descr="scu_logo_badge_crop.png"/>
          <p:cNvPicPr>
            <a:picLocks noChangeAspect="1"/>
          </p:cNvPicPr>
          <p:nvPr/>
        </p:nvPicPr>
        <p:blipFill>
          <a:blip r:embed="rId2"/>
          <a:stretch>
            <a:fillRect/>
          </a:stretch>
        </p:blipFill>
        <p:spPr>
          <a:xfrm>
            <a:off x="9720072" y="411480"/>
            <a:ext cx="1691640" cy="658368"/>
          </a:xfrm>
          <a:prstGeom prst="rect">
            <a:avLst/>
          </a:prstGeom>
        </p:spPr>
      </p:pic>
      <p:sp>
        <p:nvSpPr>
          <p:cNvPr id="5" name="Rectangle 4"/>
          <p:cNvSpPr/>
          <p:nvPr/>
        </p:nvSpPr>
        <p:spPr>
          <a:xfrm>
            <a:off x="658368" y="6236208"/>
            <a:ext cx="10881360" cy="9144"/>
          </a:xfrm>
          <a:prstGeom prst="rect">
            <a:avLst/>
          </a:prstGeom>
          <a:solidFill>
            <a:srgbClr val="EB5955"/>
          </a:solidFill>
          <a:ln>
            <a:solidFill>
              <a:srgbClr val="EB59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318504"/>
            <a:ext cx="2560320" cy="256032"/>
          </a:xfrm>
          <a:prstGeom prst="rect">
            <a:avLst/>
          </a:prstGeom>
          <a:noFill/>
        </p:spPr>
        <p:txBody>
          <a:bodyPr wrap="square" lIns="54864" rIns="54864" tIns="27432" bIns="27432">
            <a:noAutofit/>
          </a:bodyPr>
          <a:lstStyle/>
          <a:p>
            <a:pPr algn="l"/>
            <a:r>
              <a:rPr sz="1200" b="0">
                <a:solidFill>
                  <a:srgbClr val="969696"/>
                </a:solidFill>
                <a:latin typeface="SimSun"/>
              </a:rPr>
              <a:t>海纳百川，有容乃大</a:t>
            </a:r>
          </a:p>
        </p:txBody>
      </p:sp>
      <p:sp>
        <p:nvSpPr>
          <p:cNvPr id="7" name="TextBox 6"/>
          <p:cNvSpPr txBox="1"/>
          <p:nvPr/>
        </p:nvSpPr>
        <p:spPr>
          <a:xfrm>
            <a:off x="9646920" y="6318504"/>
            <a:ext cx="1920240" cy="256032"/>
          </a:xfrm>
          <a:prstGeom prst="rect">
            <a:avLst/>
          </a:prstGeom>
          <a:noFill/>
        </p:spPr>
        <p:txBody>
          <a:bodyPr wrap="square" lIns="54864" rIns="54864" tIns="27432" bIns="27432">
            <a:noAutofit/>
          </a:bodyPr>
          <a:lstStyle/>
          <a:p>
            <a:pPr algn="r"/>
            <a:r>
              <a:rPr sz="1200" b="0">
                <a:solidFill>
                  <a:srgbClr val="969696"/>
                </a:solidFill>
                <a:latin typeface="SimSun"/>
              </a:rPr>
              <a:t>www.scu.edu.cn/</a:t>
            </a:r>
          </a:p>
        </p:txBody>
      </p:sp>
      <p:sp>
        <p:nvSpPr>
          <p:cNvPr id="8" name="Rectangle 7"/>
          <p:cNvSpPr/>
          <p:nvPr/>
        </p:nvSpPr>
        <p:spPr>
          <a:xfrm>
            <a:off x="685800" y="1325880"/>
            <a:ext cx="5074920" cy="1234440"/>
          </a:xfrm>
          <a:prstGeom prst="rect">
            <a:avLst/>
          </a:prstGeom>
          <a:solidFill>
            <a:srgbClr val="FFFFFF"/>
          </a:solidFill>
          <a:ln>
            <a:solidFill>
              <a:srgbClr val="EB59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1435608"/>
            <a:ext cx="4782312" cy="292608"/>
          </a:xfrm>
          <a:prstGeom prst="rect">
            <a:avLst/>
          </a:prstGeom>
          <a:noFill/>
        </p:spPr>
        <p:txBody>
          <a:bodyPr wrap="square" lIns="54864" rIns="54864" tIns="27432" bIns="27432">
            <a:noAutofit/>
          </a:bodyPr>
          <a:lstStyle/>
          <a:p>
            <a:pPr algn="l"/>
            <a:r>
              <a:rPr sz="1600" b="1">
                <a:solidFill>
                  <a:srgbClr val="B80C0C"/>
                </a:solidFill>
                <a:latin typeface="SimHei"/>
              </a:rPr>
              <a:t>01 空间融合扩展</a:t>
            </a:r>
          </a:p>
        </p:txBody>
      </p:sp>
      <p:sp>
        <p:nvSpPr>
          <p:cNvPr id="10" name="TextBox 9"/>
          <p:cNvSpPr txBox="1"/>
          <p:nvPr/>
        </p:nvSpPr>
        <p:spPr>
          <a:xfrm>
            <a:off x="832104" y="1801368"/>
            <a:ext cx="4782312" cy="649224"/>
          </a:xfrm>
          <a:prstGeom prst="rect">
            <a:avLst/>
          </a:prstGeom>
          <a:noFill/>
        </p:spPr>
        <p:txBody>
          <a:bodyPr wrap="square" lIns="73152" rIns="73152">
            <a:noAutofit/>
          </a:bodyPr>
          <a:lstStyle/>
          <a:p>
            <a:pPr>
              <a:spcAft>
                <a:spcPts val="500"/>
              </a:spcAft>
            </a:pPr>
            <a:r>
              <a:rPr sz="1200">
                <a:solidFill>
                  <a:srgbClr val="181818"/>
                </a:solidFill>
                <a:latin typeface="SimSun"/>
              </a:rPr>
              <a:t>优化南向“一环”主轴，推动西北“二环”衔接，强化西南与西北联动。</a:t>
            </a:r>
          </a:p>
        </p:txBody>
      </p:sp>
      <p:sp>
        <p:nvSpPr>
          <p:cNvPr id="11" name="Rectangle 10"/>
          <p:cNvSpPr/>
          <p:nvPr/>
        </p:nvSpPr>
        <p:spPr>
          <a:xfrm>
            <a:off x="6172200" y="1325880"/>
            <a:ext cx="5074920" cy="1234440"/>
          </a:xfrm>
          <a:prstGeom prst="rect">
            <a:avLst/>
          </a:prstGeom>
          <a:solidFill>
            <a:srgbClr val="FFFFFF"/>
          </a:solidFill>
          <a:ln>
            <a:solidFill>
              <a:srgbClr val="EB59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18504" y="1435608"/>
            <a:ext cx="4782312" cy="292608"/>
          </a:xfrm>
          <a:prstGeom prst="rect">
            <a:avLst/>
          </a:prstGeom>
          <a:noFill/>
        </p:spPr>
        <p:txBody>
          <a:bodyPr wrap="square" lIns="54864" rIns="54864" tIns="27432" bIns="27432">
            <a:noAutofit/>
          </a:bodyPr>
          <a:lstStyle/>
          <a:p>
            <a:pPr algn="l"/>
            <a:r>
              <a:rPr sz="1600" b="1">
                <a:solidFill>
                  <a:srgbClr val="B80C0C"/>
                </a:solidFill>
                <a:latin typeface="SimHei"/>
              </a:rPr>
              <a:t>02 产业互补协同</a:t>
            </a:r>
          </a:p>
        </p:txBody>
      </p:sp>
      <p:sp>
        <p:nvSpPr>
          <p:cNvPr id="13" name="TextBox 12"/>
          <p:cNvSpPr txBox="1"/>
          <p:nvPr/>
        </p:nvSpPr>
        <p:spPr>
          <a:xfrm>
            <a:off x="6318504" y="1801368"/>
            <a:ext cx="4782312" cy="649224"/>
          </a:xfrm>
          <a:prstGeom prst="rect">
            <a:avLst/>
          </a:prstGeom>
          <a:noFill/>
        </p:spPr>
        <p:txBody>
          <a:bodyPr wrap="square" lIns="73152" rIns="73152">
            <a:noAutofit/>
          </a:bodyPr>
          <a:lstStyle/>
          <a:p>
            <a:pPr>
              <a:spcAft>
                <a:spcPts val="500"/>
              </a:spcAft>
            </a:pPr>
            <a:r>
              <a:rPr sz="1200">
                <a:solidFill>
                  <a:srgbClr val="181818"/>
                </a:solidFill>
                <a:latin typeface="SimSun"/>
              </a:rPr>
              <a:t>根据不同东盟经济体的竞争和互补程度，发展产业内贸易与产业间贸易。</a:t>
            </a:r>
          </a:p>
        </p:txBody>
      </p:sp>
      <p:sp>
        <p:nvSpPr>
          <p:cNvPr id="14" name="Rectangle 13"/>
          <p:cNvSpPr/>
          <p:nvPr/>
        </p:nvSpPr>
        <p:spPr>
          <a:xfrm>
            <a:off x="685800" y="2788920"/>
            <a:ext cx="5074920" cy="1234440"/>
          </a:xfrm>
          <a:prstGeom prst="rect">
            <a:avLst/>
          </a:prstGeom>
          <a:solidFill>
            <a:srgbClr val="FFFFFF"/>
          </a:solidFill>
          <a:ln>
            <a:solidFill>
              <a:srgbClr val="EB59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2898648"/>
            <a:ext cx="4782312" cy="292608"/>
          </a:xfrm>
          <a:prstGeom prst="rect">
            <a:avLst/>
          </a:prstGeom>
          <a:noFill/>
        </p:spPr>
        <p:txBody>
          <a:bodyPr wrap="square" lIns="54864" rIns="54864" tIns="27432" bIns="27432">
            <a:noAutofit/>
          </a:bodyPr>
          <a:lstStyle/>
          <a:p>
            <a:pPr algn="l"/>
            <a:r>
              <a:rPr sz="1600" b="1">
                <a:solidFill>
                  <a:srgbClr val="B80C0C"/>
                </a:solidFill>
                <a:latin typeface="SimHei"/>
              </a:rPr>
              <a:t>03 贸易物流双向畅通</a:t>
            </a:r>
          </a:p>
        </p:txBody>
      </p:sp>
      <p:sp>
        <p:nvSpPr>
          <p:cNvPr id="16" name="TextBox 15"/>
          <p:cNvSpPr txBox="1"/>
          <p:nvPr/>
        </p:nvSpPr>
        <p:spPr>
          <a:xfrm>
            <a:off x="832104" y="3264408"/>
            <a:ext cx="4782312" cy="649224"/>
          </a:xfrm>
          <a:prstGeom prst="rect">
            <a:avLst/>
          </a:prstGeom>
          <a:noFill/>
        </p:spPr>
        <p:txBody>
          <a:bodyPr wrap="square" lIns="73152" rIns="73152">
            <a:noAutofit/>
          </a:bodyPr>
          <a:lstStyle/>
          <a:p>
            <a:pPr>
              <a:spcAft>
                <a:spcPts val="500"/>
              </a:spcAft>
            </a:pPr>
            <a:r>
              <a:rPr sz="1200">
                <a:solidFill>
                  <a:srgbClr val="181818"/>
                </a:solidFill>
                <a:latin typeface="SimSun"/>
              </a:rPr>
              <a:t>从单向出口转向进出口双向繁荣，提升铁、公、水、空多式联运效率。</a:t>
            </a:r>
          </a:p>
        </p:txBody>
      </p:sp>
      <p:sp>
        <p:nvSpPr>
          <p:cNvPr id="17" name="Rectangle 16"/>
          <p:cNvSpPr/>
          <p:nvPr/>
        </p:nvSpPr>
        <p:spPr>
          <a:xfrm>
            <a:off x="6172200" y="2788920"/>
            <a:ext cx="5074920" cy="1234440"/>
          </a:xfrm>
          <a:prstGeom prst="rect">
            <a:avLst/>
          </a:prstGeom>
          <a:solidFill>
            <a:srgbClr val="FFFFFF"/>
          </a:solidFill>
          <a:ln>
            <a:solidFill>
              <a:srgbClr val="EB59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8504" y="2898648"/>
            <a:ext cx="4782312" cy="292608"/>
          </a:xfrm>
          <a:prstGeom prst="rect">
            <a:avLst/>
          </a:prstGeom>
          <a:noFill/>
        </p:spPr>
        <p:txBody>
          <a:bodyPr wrap="square" lIns="54864" rIns="54864" tIns="27432" bIns="27432">
            <a:noAutofit/>
          </a:bodyPr>
          <a:lstStyle/>
          <a:p>
            <a:pPr algn="l"/>
            <a:r>
              <a:rPr sz="1600" b="1">
                <a:solidFill>
                  <a:srgbClr val="B80C0C"/>
                </a:solidFill>
                <a:latin typeface="SimHei"/>
              </a:rPr>
              <a:t>04 区域协调机制</a:t>
            </a:r>
          </a:p>
        </p:txBody>
      </p:sp>
      <p:sp>
        <p:nvSpPr>
          <p:cNvPr id="19" name="TextBox 18"/>
          <p:cNvSpPr txBox="1"/>
          <p:nvPr/>
        </p:nvSpPr>
        <p:spPr>
          <a:xfrm>
            <a:off x="6318504" y="3264408"/>
            <a:ext cx="4782312" cy="649224"/>
          </a:xfrm>
          <a:prstGeom prst="rect">
            <a:avLst/>
          </a:prstGeom>
          <a:noFill/>
        </p:spPr>
        <p:txBody>
          <a:bodyPr wrap="square" lIns="73152" rIns="73152">
            <a:noAutofit/>
          </a:bodyPr>
          <a:lstStyle/>
          <a:p>
            <a:pPr>
              <a:spcAft>
                <a:spcPts val="500"/>
              </a:spcAft>
            </a:pPr>
            <a:r>
              <a:rPr sz="1200">
                <a:solidFill>
                  <a:srgbClr val="181818"/>
                </a:solidFill>
                <a:latin typeface="SimSun"/>
              </a:rPr>
              <a:t>建立覆盖国内沿线省份与东盟经济体的常态化协商和政策沟通机制。</a:t>
            </a:r>
          </a:p>
        </p:txBody>
      </p:sp>
      <p:sp>
        <p:nvSpPr>
          <p:cNvPr id="20" name="Rectangle 19"/>
          <p:cNvSpPr/>
          <p:nvPr/>
        </p:nvSpPr>
        <p:spPr>
          <a:xfrm>
            <a:off x="685800" y="4663440"/>
            <a:ext cx="10561320" cy="822960"/>
          </a:xfrm>
          <a:prstGeom prst="rect">
            <a:avLst/>
          </a:prstGeom>
          <a:solidFill>
            <a:srgbClr val="B80C0C"/>
          </a:solidFill>
          <a:ln>
            <a:solidFill>
              <a:srgbClr val="B80C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28032"/>
            <a:ext cx="9966960" cy="420624"/>
          </a:xfrm>
          <a:prstGeom prst="rect">
            <a:avLst/>
          </a:prstGeom>
          <a:noFill/>
        </p:spPr>
        <p:txBody>
          <a:bodyPr wrap="square" lIns="73152" rIns="73152">
            <a:noAutofit/>
          </a:bodyPr>
          <a:lstStyle/>
          <a:p>
            <a:pPr>
              <a:spcAft>
                <a:spcPts val="500"/>
              </a:spcAft>
            </a:pPr>
            <a:r>
              <a:rPr sz="1600">
                <a:solidFill>
                  <a:srgbClr val="FFFFFF"/>
                </a:solidFill>
                <a:latin typeface="SimSun"/>
              </a:rPr>
              <a:t>课堂结论：通道经济的关键不是“修路”本身，而是通过交通、产业和制度连接，重塑区域开放格局。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