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0" clrIdx="0"/>
  <p:cmAuthor id="2" name="作者" initials="A" lastIdx="0" clrIdx="1"/>
  <p:cmAuthor id="3" name="WPS_1679281038"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1"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1"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tags" Target="../tags/tag62.xml"/><Relationship Id="rId31" Type="http://schemas.openxmlformats.org/officeDocument/2006/relationships/tags" Target="../tags/tag61.xml"/><Relationship Id="rId30" Type="http://schemas.openxmlformats.org/officeDocument/2006/relationships/tags" Target="../tags/tag60.xml"/><Relationship Id="rId3" Type="http://schemas.openxmlformats.org/officeDocument/2006/relationships/slideLayout" Target="../slideLayouts/slideLayout3.xml"/><Relationship Id="rId29" Type="http://schemas.openxmlformats.org/officeDocument/2006/relationships/tags" Target="../tags/tag59.xml"/><Relationship Id="rId28" Type="http://schemas.openxmlformats.org/officeDocument/2006/relationships/tags" Target="../tags/tag58.xml"/><Relationship Id="rId27" Type="http://schemas.openxmlformats.org/officeDocument/2006/relationships/tags" Target="../tags/tag5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3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3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3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mc:AlternateContent xmlns:mc="http://schemas.openxmlformats.org/markup-compatibility/2006">
    <mc:Choice xmlns:p14="http://schemas.microsoft.com/office/powerpoint/2010/main" Requires="p14">
      <p:transition spd="med" p14:dur="750"/>
    </mc:Choice>
    <mc:Fallback>
      <p:transition spd="med"/>
    </mc:Fallback>
  </mc:AlternateConten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7" Type="http://schemas.openxmlformats.org/officeDocument/2006/relationships/slideLayout" Target="../slideLayouts/slideLayout7.xml"/><Relationship Id="rId16" Type="http://schemas.openxmlformats.org/officeDocument/2006/relationships/image" Target="../media/image2.png"/><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27"/>
          <p:cNvSpPr/>
          <p:nvPr/>
        </p:nvSpPr>
        <p:spPr>
          <a:xfrm flipH="1" flipV="1">
            <a:off x="2082416" y="5753375"/>
            <a:ext cx="10109584" cy="215625"/>
          </a:xfrm>
          <a:custGeom>
            <a:avLst/>
            <a:gdLst>
              <a:gd name="connsiteX0" fmla="*/ 0 w 7582188"/>
              <a:gd name="connsiteY0" fmla="*/ 161719 h 161719"/>
              <a:gd name="connsiteX1" fmla="*/ 0 w 7582188"/>
              <a:gd name="connsiteY1" fmla="*/ 6169 h 161719"/>
              <a:gd name="connsiteX2" fmla="*/ 7582188 w 7582188"/>
              <a:gd name="connsiteY2" fmla="*/ 0 h 161719"/>
              <a:gd name="connsiteX3" fmla="*/ 7405338 w 7582188"/>
              <a:gd name="connsiteY3" fmla="*/ 155695 h 161719"/>
            </a:gdLst>
            <a:ahLst/>
            <a:cxnLst>
              <a:cxn ang="0">
                <a:pos x="connsiteX0" y="connsiteY0"/>
              </a:cxn>
              <a:cxn ang="0">
                <a:pos x="connsiteX1" y="connsiteY1"/>
              </a:cxn>
              <a:cxn ang="0">
                <a:pos x="connsiteX2" y="connsiteY2"/>
              </a:cxn>
              <a:cxn ang="0">
                <a:pos x="connsiteX3" y="connsiteY3"/>
              </a:cxn>
            </a:cxnLst>
            <a:rect l="l" t="t" r="r" b="b"/>
            <a:pathLst>
              <a:path w="7582188" h="161719">
                <a:moveTo>
                  <a:pt x="0" y="161719"/>
                </a:moveTo>
                <a:lnTo>
                  <a:pt x="0" y="6169"/>
                </a:lnTo>
                <a:lnTo>
                  <a:pt x="7582188" y="0"/>
                </a:lnTo>
                <a:lnTo>
                  <a:pt x="7405338" y="15569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endParaRPr>
          </a:p>
        </p:txBody>
      </p:sp>
      <p:sp>
        <p:nvSpPr>
          <p:cNvPr id="16" name="文本框 15"/>
          <p:cNvSpPr txBox="1"/>
          <p:nvPr/>
        </p:nvSpPr>
        <p:spPr>
          <a:xfrm>
            <a:off x="609600" y="1600200"/>
            <a:ext cx="11203940" cy="3951393"/>
          </a:xfrm>
          <a:prstGeom prst="rect">
            <a:avLst/>
          </a:prstGeom>
          <a:noFill/>
        </p:spPr>
        <p:txBody>
          <a:bodyPr wrap="square" rtlCol="0">
            <a:noAutofit/>
          </a:bodyPr>
          <a:lstStyle/>
          <a:p>
            <a:pPr algn="ctr">
              <a:lnSpc>
                <a:spcPct val="100000"/>
              </a:lnSpc>
            </a:pPr>
            <a:r>
              <a:rPr lang="en-US" altLang="zh-CN" sz="2135" b="1" noProof="1" dirty="0">
                <a:solidFill>
                  <a:schemeClr val="tx1"/>
                </a:solidFill>
                <a:latin typeface="黑体" panose="02010609060101010101" charset="-122"/>
                <a:ea typeface="黑体" panose="02010609060101010101" charset="-122"/>
                <a:cs typeface="黑体" panose="02010609060101010101" charset="-122"/>
                <a:sym typeface="+mn-ea"/>
              </a:rPr>
              <a:t>2023 </a:t>
            </a:r>
            <a:r>
              <a:rPr lang="zh-CN" altLang="en-US" sz="2135" b="1" noProof="1" dirty="0">
                <a:solidFill>
                  <a:schemeClr val="tx1"/>
                </a:solidFill>
                <a:latin typeface="黑体" panose="02010609060101010101" charset="-122"/>
                <a:ea typeface="黑体" panose="02010609060101010101" charset="-122"/>
                <a:cs typeface="黑体" panose="02010609060101010101" charset="-122"/>
                <a:sym typeface="+mn-ea"/>
              </a:rPr>
              <a:t>年中国工商银行推出个人外汇自动化交易平台</a:t>
            </a:r>
            <a:endParaRPr lang="zh-CN" altLang="en-US" sz="2135" b="1" noProof="1" dirty="0">
              <a:solidFill>
                <a:schemeClr val="tx1"/>
              </a:solidFill>
              <a:latin typeface="黑体" panose="02010609060101010101" charset="-122"/>
              <a:ea typeface="黑体" panose="02010609060101010101" charset="-122"/>
              <a:cs typeface="黑体" panose="02010609060101010101" charset="-122"/>
              <a:sym typeface="+mn-ea"/>
            </a:endParaRPr>
          </a:p>
          <a:p>
            <a:pPr algn="just">
              <a:lnSpc>
                <a:spcPct val="100000"/>
              </a:lnSpc>
            </a:pPr>
            <a:r>
              <a:rPr lang="en-US" altLang="zh-CN" sz="1600" noProof="1" dirty="0">
                <a:solidFill>
                  <a:schemeClr val="tx1"/>
                </a:solidFill>
                <a:latin typeface="黑体" panose="02010609060101010101" charset="-122"/>
                <a:ea typeface="黑体" panose="02010609060101010101" charset="-122"/>
                <a:cs typeface="黑体" panose="02010609060101010101" charset="-122"/>
                <a:sym typeface="+mn-ea"/>
              </a:rPr>
              <a:t>    </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2023</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年，中国工商银行（</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ICBC</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）为了顺应金融科技的发展趋势，正式推出了首个个人外汇自动化交易平台</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a:t>
            </a:r>
            <a:r>
              <a:rPr lang="en-US" altLang="zh-CN"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智汇外汇</a:t>
            </a:r>
            <a:r>
              <a:rPr lang="en-US" altLang="zh-CN"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。该平台的推出不仅代表了中国工商银行在外汇交易领域的创新突破，也标志着中国银行业在外汇市场智能化和自动化方面迈出了重要步伐。</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 </a:t>
            </a:r>
            <a:endPar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endParaRPr>
          </a:p>
          <a:p>
            <a:pPr algn="just">
              <a:lnSpc>
                <a:spcPct val="100000"/>
              </a:lnSpc>
            </a:pP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   “</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智汇外汇</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平台</a:t>
            </a:r>
            <a:r>
              <a:rPr lang="zh-CN" altLang="en-US"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运用了先进的人工智能（</a:t>
            </a:r>
            <a:r>
              <a:rPr lang="en-US" altLang="zh-CN"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AI</a:t>
            </a:r>
            <a:r>
              <a:rPr lang="zh-CN" altLang="en-US"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）技术和机器学习算法</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为个人投资者提供了全自动化的外汇交易服务。与传统的手动交易模式不同，平台能够基于大数据分析和实时市场信息，自动识别并执行交易策略。通过深度学习和模式识别技术，平台可以不断优化交易决策，最大限度地提高投资回报率。同时，平台还能实时监测全球外汇市场的动态变化，确保投资者能够对市场波动快速反应，抓住潜在的投资机会。</a:t>
            </a:r>
            <a:endPar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endParaRPr>
          </a:p>
          <a:p>
            <a:pPr algn="just">
              <a:lnSpc>
                <a:spcPct val="100000"/>
              </a:lnSpc>
            </a:pP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    </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该平台最大的特点之一就是</a:t>
            </a:r>
            <a:r>
              <a:rPr lang="zh-CN" altLang="en-US" sz="1600" b="1" noProof="1" dirty="0">
                <a:solidFill>
                  <a:srgbClr val="FF0000"/>
                </a:solidFill>
                <a:latin typeface="方正仿宋_GB2312" panose="02000000000000000000" charset="-122"/>
                <a:ea typeface="方正仿宋_GB2312" panose="02000000000000000000" charset="-122"/>
                <a:cs typeface="方正仿宋_GB2312" panose="02000000000000000000" charset="-122"/>
                <a:sym typeface="+mn-ea"/>
              </a:rPr>
              <a:t>能够有效提升交易效率</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。在外汇市场，尤其是对于个人投资者而言，快速的市场反应和精准的交易执行至关重要。外汇市场的波动性较大，投资者常常面临错过良机或因市场波动过大导致的损失。</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智汇外汇</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平台通过全自动化交易，消除了人为操作的滞后和错误，大大提高了交易执行的时效性，确保投资者能够在最佳时机进行买卖。</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 </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此外，</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智汇外汇</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a:t>
            </a:r>
            <a:r>
              <a:rPr lang="zh-CN" altLang="en-US"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平台还通过智能化的风险管理功能，帮助投资者更好地控制交易风险。平台提供了多种风险控制工具，例如止损、止盈、资金管理策略等，投资者可以根据自身的风险偏好设置合理的交易参数，避免因市场波动过大而造成不必要的损失。这使得个人投资者，即便在面对复杂多变的外汇市场时，也能够做出更加稳健的投资决策。</a:t>
            </a:r>
            <a:r>
              <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rPr>
              <a:t> </a:t>
            </a:r>
            <a:endParaRPr lang="en-US" altLang="zh-CN" sz="1600" b="1" noProof="1" dirty="0">
              <a:solidFill>
                <a:schemeClr val="tx1"/>
              </a:solidFill>
              <a:latin typeface="方正仿宋_GB2312" panose="02000000000000000000" charset="-122"/>
              <a:ea typeface="方正仿宋_GB2312" panose="02000000000000000000" charset="-122"/>
              <a:cs typeface="方正仿宋_GB2312" panose="02000000000000000000" charset="-122"/>
              <a:sym typeface="+mn-ea"/>
            </a:endParaRPr>
          </a:p>
        </p:txBody>
      </p:sp>
      <p:sp>
        <p:nvSpPr>
          <p:cNvPr id="2" name="矩形 1"/>
          <p:cNvSpPr/>
          <p:nvPr/>
        </p:nvSpPr>
        <p:spPr>
          <a:xfrm>
            <a:off x="203200" y="889000"/>
            <a:ext cx="1808480" cy="583565"/>
          </a:xfrm>
          <a:prstGeom prst="rect">
            <a:avLst/>
          </a:prstGeom>
        </p:spPr>
        <p:txBody>
          <a:bodyPr wrap="none">
            <a:spAutoFit/>
          </a:bodyPr>
          <a:lstStyle/>
          <a:p>
            <a:pPr algn="l"/>
            <a:r>
              <a:rPr lang="zh-CN" sz="3200" b="1" noProof="1">
                <a:solidFill>
                  <a:schemeClr val="accent1"/>
                </a:solidFill>
                <a:latin typeface="+mn-ea"/>
                <a:sym typeface="Arial" panose="020B0604020202020204" pitchFamily="34" charset="0"/>
              </a:rPr>
              <a:t>案例导入</a:t>
            </a:r>
            <a:endParaRPr lang="en-US" altLang="zh-CN" sz="3200" b="1" noProof="1">
              <a:solidFill>
                <a:schemeClr val="accent1"/>
              </a:solidFill>
              <a:latin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timing>
    <p:tnLst>
      <p:par>
        <p:cTn id="1" dur="indefinite" restart="never" nodeType="tmRoot"/>
      </p:par>
    </p:tnLst>
    <p:bldLst>
      <p:bldP spid="28" grpId="0" animBg="1"/>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707136"/>
            <a:ext cx="3657600" cy="438912"/>
          </a:xfrm>
          <a:prstGeom prst="rect">
            <a:avLst/>
          </a:prstGeom>
          <a:noFill/>
        </p:spPr>
        <p:txBody>
          <a:bodyPr wrap="square" lIns="24384" tIns="12192" rIns="24384" bIns="12192" anchor="t"/>
          <a:lstStyle/>
          <a:p>
            <a:pPr algn="l">
              <a:spcAft>
                <a:spcPts val="0"/>
              </a:spcAft>
            </a:pPr>
            <a:r>
              <a:rPr sz="2665" b="1">
                <a:solidFill>
                  <a:srgbClr val="4472C4"/>
                </a:solidFill>
                <a:latin typeface="黑体" panose="02010609060101010101" charset="-122"/>
                <a:ea typeface="黑体" panose="02010609060101010101" charset="-122"/>
              </a:rPr>
              <a:t>案例导入</a:t>
            </a:r>
            <a:endParaRPr sz="2665" b="1">
              <a:solidFill>
                <a:srgbClr val="4472C4"/>
              </a:solidFill>
              <a:latin typeface="黑体" panose="02010609060101010101" charset="-122"/>
              <a:ea typeface="黑体" panose="02010609060101010101" charset="-122"/>
            </a:endParaRPr>
          </a:p>
        </p:txBody>
      </p:sp>
      <p:sp>
        <p:nvSpPr>
          <p:cNvPr id="3" name="TextBox 2"/>
          <p:cNvSpPr txBox="1"/>
          <p:nvPr/>
        </p:nvSpPr>
        <p:spPr>
          <a:xfrm>
            <a:off x="3230880" y="1097280"/>
            <a:ext cx="6350847" cy="341207"/>
          </a:xfrm>
          <a:prstGeom prst="rect">
            <a:avLst/>
          </a:prstGeom>
          <a:noFill/>
        </p:spPr>
        <p:txBody>
          <a:bodyPr wrap="square" lIns="24384" tIns="12192" rIns="24384" bIns="12192" anchor="t"/>
          <a:lstStyle/>
          <a:p>
            <a:pPr algn="ctr">
              <a:spcAft>
                <a:spcPts val="0"/>
              </a:spcAft>
            </a:pPr>
            <a:r>
              <a:rPr sz="2065" b="1">
                <a:solidFill>
                  <a:srgbClr val="000000"/>
                </a:solidFill>
                <a:latin typeface="微软雅黑" panose="020B0503020204020204" charset="-122"/>
              </a:rPr>
              <a:t>2023年中国工商银行推出个人外汇自动化交易平台</a:t>
            </a:r>
            <a:endParaRPr sz="2065" b="1">
              <a:solidFill>
                <a:srgbClr val="000000"/>
              </a:solidFill>
              <a:latin typeface="微软雅黑" panose="020B0503020204020204" charset="-122"/>
            </a:endParaRPr>
          </a:p>
        </p:txBody>
      </p:sp>
      <p:sp>
        <p:nvSpPr>
          <p:cNvPr id="4" name="Rounded Rectangle 3"/>
          <p:cNvSpPr/>
          <p:nvPr/>
        </p:nvSpPr>
        <p:spPr>
          <a:xfrm>
            <a:off x="926592" y="1560576"/>
            <a:ext cx="10302239" cy="755904"/>
          </a:xfrm>
          <a:prstGeom prst="roundRect">
            <a:avLst/>
          </a:prstGeom>
          <a:solidFill>
            <a:srgbClr val="FFFF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1219200" y="1767840"/>
            <a:ext cx="9692640" cy="304800"/>
          </a:xfrm>
          <a:prstGeom prst="rect">
            <a:avLst/>
          </a:prstGeom>
          <a:noFill/>
        </p:spPr>
        <p:txBody>
          <a:bodyPr wrap="square" lIns="24384" tIns="12192" rIns="24384" bIns="12192" anchor="t"/>
          <a:lstStyle/>
          <a:p>
            <a:pPr algn="ctr">
              <a:spcAft>
                <a:spcPts val="0"/>
              </a:spcAft>
            </a:pPr>
            <a:r>
              <a:rPr sz="1705" b="0">
                <a:solidFill>
                  <a:srgbClr val="000000"/>
                </a:solidFill>
                <a:latin typeface="微软雅黑" panose="020B0503020204020204" charset="-122"/>
              </a:rPr>
              <a:t>“智汇外汇”体现个人外汇买卖业务的智能化升级：AI识别机会、自动执行交易、嵌入风险控制。</a:t>
            </a:r>
            <a:endParaRPr sz="1705" b="0">
              <a:solidFill>
                <a:srgbClr val="000000"/>
              </a:solidFill>
              <a:latin typeface="微软雅黑" panose="020B0503020204020204" charset="-122"/>
            </a:endParaRPr>
          </a:p>
        </p:txBody>
      </p:sp>
      <p:sp>
        <p:nvSpPr>
          <p:cNvPr id="6" name="TextBox 5"/>
          <p:cNvSpPr txBox="1"/>
          <p:nvPr/>
        </p:nvSpPr>
        <p:spPr>
          <a:xfrm>
            <a:off x="877824" y="2535936"/>
            <a:ext cx="2560320" cy="292608"/>
          </a:xfrm>
          <a:prstGeom prst="rect">
            <a:avLst/>
          </a:prstGeom>
          <a:noFill/>
        </p:spPr>
        <p:txBody>
          <a:bodyPr wrap="square" lIns="24384" tIns="12192" rIns="24384" bIns="12192" anchor="t"/>
          <a:lstStyle/>
          <a:p>
            <a:pPr algn="l">
              <a:spcAft>
                <a:spcPts val="0"/>
              </a:spcAft>
            </a:pPr>
            <a:r>
              <a:rPr sz="2000" b="1">
                <a:solidFill>
                  <a:srgbClr val="4472C4"/>
                </a:solidFill>
                <a:latin typeface="微软雅黑" panose="020B0503020204020204" charset="-122"/>
              </a:rPr>
              <a:t>案例要点</a:t>
            </a:r>
            <a:endParaRPr sz="2000" b="1">
              <a:solidFill>
                <a:srgbClr val="4472C4"/>
              </a:solidFill>
              <a:latin typeface="微软雅黑" panose="020B0503020204020204" charset="-122"/>
            </a:endParaRPr>
          </a:p>
        </p:txBody>
      </p:sp>
      <p:sp>
        <p:nvSpPr>
          <p:cNvPr id="7" name="TextBox 6"/>
          <p:cNvSpPr txBox="1"/>
          <p:nvPr/>
        </p:nvSpPr>
        <p:spPr>
          <a:xfrm>
            <a:off x="999744" y="2999232"/>
            <a:ext cx="268224" cy="268224"/>
          </a:xfrm>
          <a:prstGeom prst="rect">
            <a:avLst/>
          </a:prstGeom>
          <a:noFill/>
        </p:spPr>
        <p:txBody>
          <a:bodyPr wrap="square" lIns="24384" tIns="12192" rIns="24384" bIns="12192" anchor="t"/>
          <a:lstStyle/>
          <a:p>
            <a:pPr algn="l">
              <a:spcAft>
                <a:spcPts val="0"/>
              </a:spcAft>
            </a:pPr>
            <a:r>
              <a:rPr sz="1665" b="1">
                <a:solidFill>
                  <a:srgbClr val="70AD47"/>
                </a:solidFill>
                <a:latin typeface="微软雅黑" panose="020B0503020204020204" charset="-122"/>
              </a:rPr>
              <a:t>➤</a:t>
            </a:r>
            <a:endParaRPr sz="1665" b="1">
              <a:solidFill>
                <a:srgbClr val="70AD47"/>
              </a:solidFill>
              <a:latin typeface="微软雅黑" panose="020B0503020204020204" charset="-122"/>
            </a:endParaRPr>
          </a:p>
        </p:txBody>
      </p:sp>
      <p:sp>
        <p:nvSpPr>
          <p:cNvPr id="8" name="TextBox 7"/>
          <p:cNvSpPr txBox="1"/>
          <p:nvPr/>
        </p:nvSpPr>
        <p:spPr>
          <a:xfrm>
            <a:off x="1341120" y="2987040"/>
            <a:ext cx="10607039" cy="365760"/>
          </a:xfrm>
          <a:prstGeom prst="rect">
            <a:avLst/>
          </a:prstGeom>
          <a:noFill/>
        </p:spPr>
        <p:txBody>
          <a:bodyPr wrap="square" lIns="24384" tIns="12192" rIns="24384" bIns="12192" anchor="t"/>
          <a:lstStyle/>
          <a:p>
            <a:pPr algn="l">
              <a:spcAft>
                <a:spcPts val="0"/>
              </a:spcAft>
            </a:pPr>
            <a:r>
              <a:rPr sz="1665" b="0">
                <a:solidFill>
                  <a:srgbClr val="000000"/>
                </a:solidFill>
                <a:latin typeface="微软雅黑" panose="020B0503020204020204" charset="-122"/>
              </a:rPr>
              <a:t>业务本质：自有外汇资金在不同货币之间兑换。</a:t>
            </a:r>
            <a:endParaRPr sz="1665" b="0">
              <a:solidFill>
                <a:srgbClr val="000000"/>
              </a:solidFill>
              <a:latin typeface="微软雅黑" panose="020B0503020204020204" charset="-122"/>
            </a:endParaRPr>
          </a:p>
        </p:txBody>
      </p:sp>
      <p:sp>
        <p:nvSpPr>
          <p:cNvPr id="9" name="TextBox 8"/>
          <p:cNvSpPr txBox="1"/>
          <p:nvPr/>
        </p:nvSpPr>
        <p:spPr>
          <a:xfrm>
            <a:off x="999744" y="3401567"/>
            <a:ext cx="268224" cy="268224"/>
          </a:xfrm>
          <a:prstGeom prst="rect">
            <a:avLst/>
          </a:prstGeom>
          <a:noFill/>
        </p:spPr>
        <p:txBody>
          <a:bodyPr wrap="square" lIns="24384" tIns="12192" rIns="24384" bIns="12192" anchor="t"/>
          <a:lstStyle/>
          <a:p>
            <a:pPr algn="l">
              <a:spcAft>
                <a:spcPts val="0"/>
              </a:spcAft>
            </a:pPr>
            <a:r>
              <a:rPr sz="1665" b="1">
                <a:solidFill>
                  <a:srgbClr val="70AD47"/>
                </a:solidFill>
                <a:latin typeface="微软雅黑" panose="020B0503020204020204" charset="-122"/>
              </a:rPr>
              <a:t>➤</a:t>
            </a:r>
            <a:endParaRPr sz="1665" b="1">
              <a:solidFill>
                <a:srgbClr val="70AD47"/>
              </a:solidFill>
              <a:latin typeface="微软雅黑" panose="020B0503020204020204" charset="-122"/>
            </a:endParaRPr>
          </a:p>
        </p:txBody>
      </p:sp>
      <p:sp>
        <p:nvSpPr>
          <p:cNvPr id="10" name="TextBox 9"/>
          <p:cNvSpPr txBox="1"/>
          <p:nvPr/>
        </p:nvSpPr>
        <p:spPr>
          <a:xfrm>
            <a:off x="1341120" y="3389376"/>
            <a:ext cx="10607039" cy="365760"/>
          </a:xfrm>
          <a:prstGeom prst="rect">
            <a:avLst/>
          </a:prstGeom>
          <a:noFill/>
        </p:spPr>
        <p:txBody>
          <a:bodyPr wrap="square" lIns="24384" tIns="12192" rIns="24384" bIns="12192" anchor="t"/>
          <a:lstStyle/>
          <a:p>
            <a:pPr algn="l">
              <a:spcAft>
                <a:spcPts val="0"/>
              </a:spcAft>
            </a:pPr>
            <a:r>
              <a:rPr sz="1665" b="0">
                <a:solidFill>
                  <a:srgbClr val="000000"/>
                </a:solidFill>
                <a:latin typeface="微软雅黑" panose="020B0503020204020204" charset="-122"/>
              </a:rPr>
              <a:t>交易对象：美元、欧元、日元、英镑、港币等主要外币。</a:t>
            </a:r>
            <a:endParaRPr sz="1665" b="0">
              <a:solidFill>
                <a:srgbClr val="000000"/>
              </a:solidFill>
              <a:latin typeface="微软雅黑" panose="020B0503020204020204" charset="-122"/>
            </a:endParaRPr>
          </a:p>
        </p:txBody>
      </p:sp>
      <p:sp>
        <p:nvSpPr>
          <p:cNvPr id="11" name="TextBox 10"/>
          <p:cNvSpPr txBox="1"/>
          <p:nvPr/>
        </p:nvSpPr>
        <p:spPr>
          <a:xfrm>
            <a:off x="999744" y="3803903"/>
            <a:ext cx="268224" cy="268224"/>
          </a:xfrm>
          <a:prstGeom prst="rect">
            <a:avLst/>
          </a:prstGeom>
          <a:noFill/>
        </p:spPr>
        <p:txBody>
          <a:bodyPr wrap="square" lIns="24384" tIns="12192" rIns="24384" bIns="12192" anchor="t"/>
          <a:lstStyle/>
          <a:p>
            <a:pPr algn="l">
              <a:spcAft>
                <a:spcPts val="0"/>
              </a:spcAft>
            </a:pPr>
            <a:r>
              <a:rPr sz="1665" b="1">
                <a:solidFill>
                  <a:srgbClr val="70AD47"/>
                </a:solidFill>
                <a:latin typeface="微软雅黑" panose="020B0503020204020204" charset="-122"/>
              </a:rPr>
              <a:t>➤</a:t>
            </a:r>
            <a:endParaRPr sz="1665" b="1">
              <a:solidFill>
                <a:srgbClr val="70AD47"/>
              </a:solidFill>
              <a:latin typeface="微软雅黑" panose="020B0503020204020204" charset="-122"/>
            </a:endParaRPr>
          </a:p>
        </p:txBody>
      </p:sp>
      <p:sp>
        <p:nvSpPr>
          <p:cNvPr id="12" name="TextBox 11"/>
          <p:cNvSpPr txBox="1"/>
          <p:nvPr/>
        </p:nvSpPr>
        <p:spPr>
          <a:xfrm>
            <a:off x="1341120" y="3791712"/>
            <a:ext cx="10607039" cy="365760"/>
          </a:xfrm>
          <a:prstGeom prst="rect">
            <a:avLst/>
          </a:prstGeom>
          <a:noFill/>
        </p:spPr>
        <p:txBody>
          <a:bodyPr wrap="square" lIns="24384" tIns="12192" rIns="24384" bIns="12192" anchor="t"/>
          <a:lstStyle/>
          <a:p>
            <a:pPr algn="l">
              <a:spcAft>
                <a:spcPts val="0"/>
              </a:spcAft>
            </a:pPr>
            <a:r>
              <a:rPr sz="1665" b="0">
                <a:solidFill>
                  <a:srgbClr val="000000"/>
                </a:solidFill>
                <a:latin typeface="微软雅黑" panose="020B0503020204020204" charset="-122"/>
              </a:rPr>
              <a:t>渠道升级：从柜台、电话、自助设备、网上交易，延伸到智能化平台。</a:t>
            </a:r>
            <a:endParaRPr sz="1665" b="0">
              <a:solidFill>
                <a:srgbClr val="000000"/>
              </a:solidFill>
              <a:latin typeface="微软雅黑" panose="020B0503020204020204" charset="-122"/>
            </a:endParaRPr>
          </a:p>
        </p:txBody>
      </p:sp>
      <p:sp>
        <p:nvSpPr>
          <p:cNvPr id="13" name="TextBox 12"/>
          <p:cNvSpPr txBox="1"/>
          <p:nvPr/>
        </p:nvSpPr>
        <p:spPr>
          <a:xfrm>
            <a:off x="877824" y="4364736"/>
            <a:ext cx="2560320" cy="292608"/>
          </a:xfrm>
          <a:prstGeom prst="rect">
            <a:avLst/>
          </a:prstGeom>
          <a:noFill/>
        </p:spPr>
        <p:txBody>
          <a:bodyPr wrap="square" lIns="24384" tIns="12192" rIns="24384" bIns="12192" anchor="t"/>
          <a:lstStyle/>
          <a:p>
            <a:pPr algn="l">
              <a:spcAft>
                <a:spcPts val="0"/>
              </a:spcAft>
            </a:pPr>
            <a:r>
              <a:rPr sz="2000" b="1">
                <a:solidFill>
                  <a:srgbClr val="4472C4"/>
                </a:solidFill>
                <a:latin typeface="微软雅黑" panose="020B0503020204020204" charset="-122"/>
              </a:rPr>
              <a:t>平台逻辑</a:t>
            </a:r>
            <a:endParaRPr sz="2000" b="1">
              <a:solidFill>
                <a:srgbClr val="4472C4"/>
              </a:solidFill>
              <a:latin typeface="微软雅黑" panose="020B0503020204020204" charset="-122"/>
            </a:endParaRPr>
          </a:p>
        </p:txBody>
      </p:sp>
      <p:sp>
        <p:nvSpPr>
          <p:cNvPr id="14" name="Rounded Rectangle 13"/>
          <p:cNvSpPr/>
          <p:nvPr/>
        </p:nvSpPr>
        <p:spPr>
          <a:xfrm>
            <a:off x="1121664" y="4791456"/>
            <a:ext cx="2865120" cy="1072896"/>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1243584" y="4888992"/>
            <a:ext cx="2621280" cy="219456"/>
          </a:xfrm>
          <a:prstGeom prst="rect">
            <a:avLst/>
          </a:prstGeom>
          <a:noFill/>
        </p:spPr>
        <p:txBody>
          <a:bodyPr wrap="square" lIns="24384" tIns="12192" rIns="24384" bIns="12192" anchor="t"/>
          <a:lstStyle/>
          <a:p>
            <a:pPr algn="ctr">
              <a:spcAft>
                <a:spcPts val="0"/>
              </a:spcAft>
            </a:pPr>
            <a:r>
              <a:rPr sz="1495" b="1">
                <a:solidFill>
                  <a:srgbClr val="4472C4"/>
                </a:solidFill>
                <a:latin typeface="微软雅黑" panose="020B0503020204020204" charset="-122"/>
              </a:rPr>
              <a:t>市场数据</a:t>
            </a:r>
            <a:endParaRPr sz="1495" b="1">
              <a:solidFill>
                <a:srgbClr val="4472C4"/>
              </a:solidFill>
              <a:latin typeface="微软雅黑" panose="020B0503020204020204" charset="-122"/>
            </a:endParaRPr>
          </a:p>
        </p:txBody>
      </p:sp>
      <p:cxnSp>
        <p:nvCxnSpPr>
          <p:cNvPr id="16" name="Connector 15"/>
          <p:cNvCxnSpPr/>
          <p:nvPr/>
        </p:nvCxnSpPr>
        <p:spPr>
          <a:xfrm>
            <a:off x="1389888" y="5193792"/>
            <a:ext cx="2328672" cy="0"/>
          </a:xfrm>
          <a:prstGeom prst="line">
            <a:avLst/>
          </a:prstGeom>
          <a:ln w="13970">
            <a:solidFill>
              <a:srgbClr val="4472C4"/>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80160" y="5315712"/>
            <a:ext cx="2548127" cy="463296"/>
          </a:xfrm>
          <a:prstGeom prst="rect">
            <a:avLst/>
          </a:prstGeom>
          <a:noFill/>
        </p:spPr>
        <p:txBody>
          <a:bodyPr wrap="square" lIns="24384" tIns="12192" rIns="24384" bIns="12192" anchor="t"/>
          <a:lstStyle/>
          <a:p>
            <a:pPr algn="ctr">
              <a:spcAft>
                <a:spcPts val="0"/>
              </a:spcAft>
            </a:pPr>
            <a:r>
              <a:rPr sz="1360" b="0">
                <a:solidFill>
                  <a:srgbClr val="000000"/>
                </a:solidFill>
                <a:latin typeface="微软雅黑" panose="020B0503020204020204" charset="-122"/>
              </a:rPr>
              <a:t>实时汇率</a:t>
            </a:r>
            <a:endParaRPr sz="1360" b="0">
              <a:solidFill>
                <a:srgbClr val="000000"/>
              </a:solidFill>
              <a:latin typeface="微软雅黑" panose="020B0503020204020204" charset="-122"/>
            </a:endParaRPr>
          </a:p>
          <a:p>
            <a:pPr algn="ctr">
              <a:spcAft>
                <a:spcPts val="0"/>
              </a:spcAft>
            </a:pPr>
            <a:r>
              <a:rPr sz="1360" b="0">
                <a:solidFill>
                  <a:srgbClr val="000000"/>
                </a:solidFill>
                <a:latin typeface="微软雅黑" panose="020B0503020204020204" charset="-122"/>
              </a:rPr>
              <a:t>全球市场信息</a:t>
            </a:r>
            <a:endParaRPr sz="1360" b="0">
              <a:solidFill>
                <a:srgbClr val="000000"/>
              </a:solidFill>
              <a:latin typeface="微软雅黑" panose="020B0503020204020204" charset="-122"/>
            </a:endParaRPr>
          </a:p>
        </p:txBody>
      </p:sp>
      <p:sp>
        <p:nvSpPr>
          <p:cNvPr id="18" name="Rounded Rectangle 17"/>
          <p:cNvSpPr/>
          <p:nvPr/>
        </p:nvSpPr>
        <p:spPr>
          <a:xfrm>
            <a:off x="4267200" y="4791456"/>
            <a:ext cx="2865120" cy="1072896"/>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4389120" y="4888992"/>
            <a:ext cx="2621280" cy="219456"/>
          </a:xfrm>
          <a:prstGeom prst="rect">
            <a:avLst/>
          </a:prstGeom>
          <a:noFill/>
        </p:spPr>
        <p:txBody>
          <a:bodyPr wrap="square" lIns="24384" tIns="12192" rIns="24384" bIns="12192" anchor="t"/>
          <a:lstStyle/>
          <a:p>
            <a:pPr algn="ctr">
              <a:spcAft>
                <a:spcPts val="0"/>
              </a:spcAft>
            </a:pPr>
            <a:r>
              <a:rPr sz="1495" b="1">
                <a:solidFill>
                  <a:srgbClr val="70AD47"/>
                </a:solidFill>
                <a:latin typeface="微软雅黑" panose="020B0503020204020204" charset="-122"/>
              </a:rPr>
              <a:t>策略执行</a:t>
            </a:r>
            <a:endParaRPr sz="1495" b="1">
              <a:solidFill>
                <a:srgbClr val="70AD47"/>
              </a:solidFill>
              <a:latin typeface="微软雅黑" panose="020B0503020204020204" charset="-122"/>
            </a:endParaRPr>
          </a:p>
        </p:txBody>
      </p:sp>
      <p:cxnSp>
        <p:nvCxnSpPr>
          <p:cNvPr id="20" name="Connector 19"/>
          <p:cNvCxnSpPr/>
          <p:nvPr/>
        </p:nvCxnSpPr>
        <p:spPr>
          <a:xfrm>
            <a:off x="4535424" y="5193792"/>
            <a:ext cx="2328672" cy="0"/>
          </a:xfrm>
          <a:prstGeom prst="line">
            <a:avLst/>
          </a:prstGeom>
          <a:ln w="13970">
            <a:solidFill>
              <a:srgbClr val="70AD4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425696" y="5315712"/>
            <a:ext cx="2548127" cy="463296"/>
          </a:xfrm>
          <a:prstGeom prst="rect">
            <a:avLst/>
          </a:prstGeom>
          <a:noFill/>
        </p:spPr>
        <p:txBody>
          <a:bodyPr wrap="square" lIns="24384" tIns="12192" rIns="24384" bIns="12192" anchor="t"/>
          <a:lstStyle/>
          <a:p>
            <a:pPr algn="ctr">
              <a:spcAft>
                <a:spcPts val="0"/>
              </a:spcAft>
            </a:pPr>
            <a:r>
              <a:rPr sz="1360" b="0">
                <a:solidFill>
                  <a:srgbClr val="000000"/>
                </a:solidFill>
                <a:latin typeface="微软雅黑" panose="020B0503020204020204" charset="-122"/>
              </a:rPr>
              <a:t>自动识别机会</a:t>
            </a:r>
            <a:endParaRPr sz="1360" b="0">
              <a:solidFill>
                <a:srgbClr val="000000"/>
              </a:solidFill>
              <a:latin typeface="微软雅黑" panose="020B0503020204020204" charset="-122"/>
            </a:endParaRPr>
          </a:p>
          <a:p>
            <a:pPr algn="ctr">
              <a:spcAft>
                <a:spcPts val="0"/>
              </a:spcAft>
            </a:pPr>
            <a:r>
              <a:rPr sz="1360" b="0">
                <a:solidFill>
                  <a:srgbClr val="000000"/>
                </a:solidFill>
                <a:latin typeface="微软雅黑" panose="020B0503020204020204" charset="-122"/>
              </a:rPr>
              <a:t>快速完成买卖</a:t>
            </a:r>
            <a:endParaRPr sz="1360" b="0">
              <a:solidFill>
                <a:srgbClr val="000000"/>
              </a:solidFill>
              <a:latin typeface="微软雅黑" panose="020B0503020204020204" charset="-122"/>
            </a:endParaRPr>
          </a:p>
        </p:txBody>
      </p:sp>
      <p:sp>
        <p:nvSpPr>
          <p:cNvPr id="22" name="Rounded Rectangle 21"/>
          <p:cNvSpPr/>
          <p:nvPr/>
        </p:nvSpPr>
        <p:spPr>
          <a:xfrm>
            <a:off x="7412736" y="4791456"/>
            <a:ext cx="2865120" cy="1072896"/>
          </a:xfrm>
          <a:prstGeom prst="roundRect">
            <a:avLst/>
          </a:prstGeom>
          <a:solidFill>
            <a:srgbClr val="FFF7EE"/>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7534656" y="4888992"/>
            <a:ext cx="2621280" cy="219456"/>
          </a:xfrm>
          <a:prstGeom prst="rect">
            <a:avLst/>
          </a:prstGeom>
          <a:noFill/>
        </p:spPr>
        <p:txBody>
          <a:bodyPr wrap="square" lIns="24384" tIns="12192" rIns="24384" bIns="12192" anchor="t"/>
          <a:lstStyle/>
          <a:p>
            <a:pPr algn="ctr">
              <a:spcAft>
                <a:spcPts val="0"/>
              </a:spcAft>
            </a:pPr>
            <a:r>
              <a:rPr sz="1495" b="1">
                <a:solidFill>
                  <a:srgbClr val="ED7D31"/>
                </a:solidFill>
                <a:latin typeface="微软雅黑" panose="020B0503020204020204" charset="-122"/>
              </a:rPr>
              <a:t>风险管理</a:t>
            </a:r>
            <a:endParaRPr sz="1495" b="1">
              <a:solidFill>
                <a:srgbClr val="ED7D31"/>
              </a:solidFill>
              <a:latin typeface="微软雅黑" panose="020B0503020204020204" charset="-122"/>
            </a:endParaRPr>
          </a:p>
        </p:txBody>
      </p:sp>
      <p:cxnSp>
        <p:nvCxnSpPr>
          <p:cNvPr id="24" name="Connector 23"/>
          <p:cNvCxnSpPr/>
          <p:nvPr/>
        </p:nvCxnSpPr>
        <p:spPr>
          <a:xfrm>
            <a:off x="7680960" y="5193792"/>
            <a:ext cx="2328671" cy="0"/>
          </a:xfrm>
          <a:prstGeom prst="line">
            <a:avLst/>
          </a:prstGeom>
          <a:ln w="13970">
            <a:solidFill>
              <a:srgbClr val="ED7D3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571232" y="5315712"/>
            <a:ext cx="2548127" cy="463296"/>
          </a:xfrm>
          <a:prstGeom prst="rect">
            <a:avLst/>
          </a:prstGeom>
          <a:noFill/>
        </p:spPr>
        <p:txBody>
          <a:bodyPr wrap="square" lIns="24384" tIns="12192" rIns="24384" bIns="12192" anchor="t"/>
          <a:lstStyle/>
          <a:p>
            <a:pPr algn="ctr">
              <a:spcAft>
                <a:spcPts val="0"/>
              </a:spcAft>
            </a:pPr>
            <a:r>
              <a:rPr sz="1360" b="0">
                <a:solidFill>
                  <a:srgbClr val="000000"/>
                </a:solidFill>
                <a:latin typeface="微软雅黑" panose="020B0503020204020204" charset="-122"/>
              </a:rPr>
              <a:t>止损止盈</a:t>
            </a:r>
            <a:endParaRPr sz="1360" b="0">
              <a:solidFill>
                <a:srgbClr val="000000"/>
              </a:solidFill>
              <a:latin typeface="微软雅黑" panose="020B0503020204020204" charset="-122"/>
            </a:endParaRPr>
          </a:p>
          <a:p>
            <a:pPr algn="ctr">
              <a:spcAft>
                <a:spcPts val="0"/>
              </a:spcAft>
            </a:pPr>
            <a:r>
              <a:rPr sz="1360" b="0">
                <a:solidFill>
                  <a:srgbClr val="000000"/>
                </a:solidFill>
                <a:latin typeface="微软雅黑" panose="020B0503020204020204" charset="-122"/>
              </a:rPr>
              <a:t>资金管理参数</a:t>
            </a:r>
            <a:endParaRPr sz="1360" b="0">
              <a:solidFill>
                <a:srgbClr val="000000"/>
              </a:solidFill>
              <a:latin typeface="微软雅黑" panose="020B0503020204020204" charset="-122"/>
            </a:endParaRPr>
          </a:p>
        </p:txBody>
      </p:sp>
      <p:cxnSp>
        <p:nvCxnSpPr>
          <p:cNvPr id="26" name="Connector 25"/>
          <p:cNvCxnSpPr/>
          <p:nvPr/>
        </p:nvCxnSpPr>
        <p:spPr>
          <a:xfrm>
            <a:off x="3986784" y="5327904"/>
            <a:ext cx="268224"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132320" y="5327904"/>
            <a:ext cx="268224"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21664" y="6047232"/>
            <a:ext cx="920496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1341120" y="6120384"/>
            <a:ext cx="8778240" cy="158496"/>
          </a:xfrm>
          <a:prstGeom prst="rect">
            <a:avLst/>
          </a:prstGeom>
          <a:noFill/>
        </p:spPr>
        <p:txBody>
          <a:bodyPr wrap="square" lIns="24384" tIns="12192" rIns="24384" bIns="12192" anchor="t"/>
          <a:lstStyle/>
          <a:p>
            <a:pPr algn="l">
              <a:spcAft>
                <a:spcPts val="0"/>
              </a:spcAft>
            </a:pPr>
            <a:r>
              <a:rPr sz="1360" b="0">
                <a:solidFill>
                  <a:srgbClr val="525252"/>
                </a:solidFill>
                <a:latin typeface="微软雅黑" panose="020B0503020204020204" charset="-122"/>
              </a:rPr>
              <a:t>逻辑结论：本质仍是外汇买卖，变化在于信息处理、交易速度与风险控制。</a:t>
            </a:r>
            <a:endParaRPr sz="1360" b="0">
              <a:solidFill>
                <a:srgbClr val="525252"/>
              </a:solidFill>
              <a:latin typeface="微软雅黑" panose="020B0503020204020204" charset="-122"/>
            </a:endParaRPr>
          </a:p>
        </p:txBody>
      </p:sp>
      <p:sp>
        <p:nvSpPr>
          <p:cNvPr id="30" name="Parallelogram 29"/>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1" name="Rectangle 30"/>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65760" y="707136"/>
            <a:ext cx="3657600" cy="438912"/>
          </a:xfrm>
          <a:prstGeom prst="rect">
            <a:avLst/>
          </a:prstGeom>
          <a:noFill/>
        </p:spPr>
        <p:txBody>
          <a:bodyPr wrap="square" lIns="24384" tIns="12192" rIns="24384" bIns="12192" anchor="t"/>
          <a:lstStyle/>
          <a:p>
            <a:pPr algn="l">
              <a:spcAft>
                <a:spcPts val="0"/>
              </a:spcAft>
            </a:pPr>
            <a:r>
              <a:rPr sz="2665" b="1">
                <a:solidFill>
                  <a:srgbClr val="4472C4"/>
                </a:solidFill>
                <a:latin typeface="黑体" panose="02010609060101010101" charset="-122"/>
                <a:ea typeface="黑体" panose="02010609060101010101" charset="-122"/>
              </a:rPr>
              <a:t>案例解释</a:t>
            </a:r>
            <a:endParaRPr sz="2665" b="1">
              <a:solidFill>
                <a:srgbClr val="4472C4"/>
              </a:solidFill>
              <a:latin typeface="黑体" panose="02010609060101010101" charset="-122"/>
              <a:ea typeface="黑体" panose="02010609060101010101" charset="-122"/>
            </a:endParaRPr>
          </a:p>
        </p:txBody>
      </p:sp>
      <p:sp>
        <p:nvSpPr>
          <p:cNvPr id="3" name="TextBox 2"/>
          <p:cNvSpPr txBox="1"/>
          <p:nvPr/>
        </p:nvSpPr>
        <p:spPr>
          <a:xfrm>
            <a:off x="3535680" y="1097280"/>
            <a:ext cx="5120640" cy="341376"/>
          </a:xfrm>
          <a:prstGeom prst="rect">
            <a:avLst/>
          </a:prstGeom>
          <a:noFill/>
        </p:spPr>
        <p:txBody>
          <a:bodyPr wrap="square" lIns="24384" tIns="12192" rIns="24384" bIns="12192" anchor="t"/>
          <a:lstStyle/>
          <a:p>
            <a:pPr algn="ctr">
              <a:spcAft>
                <a:spcPts val="0"/>
              </a:spcAft>
            </a:pPr>
            <a:r>
              <a:rPr sz="2065" b="1">
                <a:solidFill>
                  <a:srgbClr val="000000"/>
                </a:solidFill>
                <a:latin typeface="黑体" panose="02010609060101010101" charset="-122"/>
                <a:ea typeface="黑体" panose="02010609060101010101" charset="-122"/>
                <a:cs typeface="黑体" panose="02010609060101010101" charset="-122"/>
              </a:rPr>
              <a:t>拆解“智汇外汇”</a:t>
            </a:r>
            <a:endParaRPr sz="2065" b="1">
              <a:solidFill>
                <a:srgbClr val="000000"/>
              </a:solidFill>
              <a:latin typeface="黑体" panose="02010609060101010101" charset="-122"/>
              <a:ea typeface="黑体" panose="02010609060101010101" charset="-122"/>
              <a:cs typeface="黑体" panose="02010609060101010101" charset="-122"/>
            </a:endParaRPr>
          </a:p>
        </p:txBody>
      </p:sp>
      <p:sp>
        <p:nvSpPr>
          <p:cNvPr id="4" name="Rounded Rectangle 3"/>
          <p:cNvSpPr/>
          <p:nvPr/>
        </p:nvSpPr>
        <p:spPr>
          <a:xfrm>
            <a:off x="926592" y="1524000"/>
            <a:ext cx="10302239" cy="560832"/>
          </a:xfrm>
          <a:prstGeom prst="roundRect">
            <a:avLst/>
          </a:prstGeom>
          <a:solidFill>
            <a:srgbClr val="FFFF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1219200" y="1670304"/>
            <a:ext cx="9692640" cy="219456"/>
          </a:xfrm>
          <a:prstGeom prst="rect">
            <a:avLst/>
          </a:prstGeom>
          <a:noFill/>
        </p:spPr>
        <p:txBody>
          <a:bodyPr wrap="square" lIns="24384" tIns="12192" rIns="24384" bIns="12192" anchor="t"/>
          <a:lstStyle/>
          <a:p>
            <a:pPr algn="ctr">
              <a:spcAft>
                <a:spcPts val="0"/>
              </a:spcAft>
            </a:pPr>
            <a:r>
              <a:rPr sz="1600" b="0">
                <a:solidFill>
                  <a:srgbClr val="000000"/>
                </a:solidFill>
                <a:latin typeface="微软雅黑" panose="020B0503020204020204" charset="-122"/>
              </a:rPr>
              <a:t>分析框架：报价机制、委托方式、成交确认、T+0清算、收益动机与风险边界。</a:t>
            </a:r>
            <a:endParaRPr sz="1600" b="0">
              <a:solidFill>
                <a:srgbClr val="000000"/>
              </a:solidFill>
              <a:latin typeface="微软雅黑" panose="020B0503020204020204" charset="-122"/>
            </a:endParaRPr>
          </a:p>
        </p:txBody>
      </p:sp>
      <p:sp>
        <p:nvSpPr>
          <p:cNvPr id="6" name="TextBox 5"/>
          <p:cNvSpPr txBox="1"/>
          <p:nvPr/>
        </p:nvSpPr>
        <p:spPr>
          <a:xfrm>
            <a:off x="877824" y="2377440"/>
            <a:ext cx="2560320" cy="268224"/>
          </a:xfrm>
          <a:prstGeom prst="rect">
            <a:avLst/>
          </a:prstGeom>
          <a:noFill/>
        </p:spPr>
        <p:txBody>
          <a:bodyPr wrap="square" lIns="24384" tIns="12192" rIns="24384" bIns="12192" anchor="t"/>
          <a:lstStyle/>
          <a:p>
            <a:pPr algn="l">
              <a:spcAft>
                <a:spcPts val="0"/>
              </a:spcAft>
            </a:pPr>
            <a:r>
              <a:rPr sz="1895" b="1">
                <a:solidFill>
                  <a:srgbClr val="4472C4"/>
                </a:solidFill>
                <a:latin typeface="微软雅黑" panose="020B0503020204020204" charset="-122"/>
              </a:rPr>
              <a:t>交易流程</a:t>
            </a:r>
            <a:endParaRPr sz="1895" b="1">
              <a:solidFill>
                <a:srgbClr val="4472C4"/>
              </a:solidFill>
              <a:latin typeface="微软雅黑" panose="020B0503020204020204" charset="-122"/>
            </a:endParaRPr>
          </a:p>
        </p:txBody>
      </p:sp>
      <p:sp>
        <p:nvSpPr>
          <p:cNvPr id="7" name="Rounded Rectangle 6"/>
          <p:cNvSpPr/>
          <p:nvPr/>
        </p:nvSpPr>
        <p:spPr>
          <a:xfrm>
            <a:off x="1072896" y="2779775"/>
            <a:ext cx="2145792" cy="1194816"/>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1194816" y="2877312"/>
            <a:ext cx="1901952" cy="219456"/>
          </a:xfrm>
          <a:prstGeom prst="rect">
            <a:avLst/>
          </a:prstGeom>
          <a:noFill/>
        </p:spPr>
        <p:txBody>
          <a:bodyPr wrap="square" lIns="24384" tIns="12192" rIns="24384" bIns="12192" anchor="t"/>
          <a:lstStyle/>
          <a:p>
            <a:pPr algn="ctr">
              <a:spcAft>
                <a:spcPts val="0"/>
              </a:spcAft>
            </a:pPr>
            <a:r>
              <a:rPr sz="1495" b="1">
                <a:solidFill>
                  <a:srgbClr val="4472C4"/>
                </a:solidFill>
                <a:latin typeface="微软雅黑" panose="020B0503020204020204" charset="-122"/>
              </a:rPr>
              <a:t>开户</a:t>
            </a:r>
            <a:endParaRPr sz="1495" b="1">
              <a:solidFill>
                <a:srgbClr val="4472C4"/>
              </a:solidFill>
              <a:latin typeface="微软雅黑" panose="020B0503020204020204" charset="-122"/>
            </a:endParaRPr>
          </a:p>
        </p:txBody>
      </p:sp>
      <p:cxnSp>
        <p:nvCxnSpPr>
          <p:cNvPr id="9" name="Connector 8"/>
          <p:cNvCxnSpPr/>
          <p:nvPr/>
        </p:nvCxnSpPr>
        <p:spPr>
          <a:xfrm>
            <a:off x="1341120" y="3182112"/>
            <a:ext cx="1609344" cy="0"/>
          </a:xfrm>
          <a:prstGeom prst="line">
            <a:avLst/>
          </a:prstGeom>
          <a:ln w="13970">
            <a:solidFill>
              <a:srgbClr val="4472C4"/>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31392" y="3304032"/>
            <a:ext cx="1828800" cy="58521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身份确认</a:t>
            </a:r>
            <a:endParaRPr sz="1200" b="0">
              <a:solidFill>
                <a:srgbClr val="000000"/>
              </a:solidFill>
              <a:latin typeface="微软雅黑" panose="020B0503020204020204" charset="-122"/>
            </a:endParaRPr>
          </a:p>
          <a:p>
            <a:pPr algn="ctr">
              <a:spcAft>
                <a:spcPts val="0"/>
              </a:spcAft>
            </a:pPr>
            <a:r>
              <a:rPr sz="1200" b="0">
                <a:solidFill>
                  <a:srgbClr val="000000"/>
                </a:solidFill>
                <a:latin typeface="微软雅黑" panose="020B0503020204020204" charset="-122"/>
              </a:rPr>
              <a:t>外汇资金</a:t>
            </a:r>
            <a:endParaRPr sz="1200" b="0">
              <a:solidFill>
                <a:srgbClr val="000000"/>
              </a:solidFill>
              <a:latin typeface="微软雅黑" panose="020B0503020204020204" charset="-122"/>
            </a:endParaRPr>
          </a:p>
        </p:txBody>
      </p:sp>
      <p:cxnSp>
        <p:nvCxnSpPr>
          <p:cNvPr id="11" name="Connector 10"/>
          <p:cNvCxnSpPr/>
          <p:nvPr/>
        </p:nvCxnSpPr>
        <p:spPr>
          <a:xfrm>
            <a:off x="3218688" y="3377184"/>
            <a:ext cx="353567"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94176" y="2779775"/>
            <a:ext cx="2145792" cy="1194816"/>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3816096" y="2877312"/>
            <a:ext cx="1901952" cy="219456"/>
          </a:xfrm>
          <a:prstGeom prst="rect">
            <a:avLst/>
          </a:prstGeom>
          <a:noFill/>
        </p:spPr>
        <p:txBody>
          <a:bodyPr wrap="square" lIns="24384" tIns="12192" rIns="24384" bIns="12192" anchor="t"/>
          <a:lstStyle/>
          <a:p>
            <a:pPr algn="ctr">
              <a:spcAft>
                <a:spcPts val="0"/>
              </a:spcAft>
            </a:pPr>
            <a:r>
              <a:rPr sz="1495" b="1">
                <a:solidFill>
                  <a:srgbClr val="4472C4"/>
                </a:solidFill>
                <a:latin typeface="微软雅黑" panose="020B0503020204020204" charset="-122"/>
              </a:rPr>
              <a:t>委托</a:t>
            </a:r>
            <a:endParaRPr sz="1495" b="1">
              <a:solidFill>
                <a:srgbClr val="4472C4"/>
              </a:solidFill>
              <a:latin typeface="微软雅黑" panose="020B0503020204020204" charset="-122"/>
            </a:endParaRPr>
          </a:p>
        </p:txBody>
      </p:sp>
      <p:cxnSp>
        <p:nvCxnSpPr>
          <p:cNvPr id="14" name="Connector 13"/>
          <p:cNvCxnSpPr/>
          <p:nvPr/>
        </p:nvCxnSpPr>
        <p:spPr>
          <a:xfrm>
            <a:off x="3962400" y="3182112"/>
            <a:ext cx="1609344" cy="0"/>
          </a:xfrm>
          <a:prstGeom prst="line">
            <a:avLst/>
          </a:prstGeom>
          <a:ln w="13970">
            <a:solidFill>
              <a:srgbClr val="4472C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52671" y="3304032"/>
            <a:ext cx="1828800" cy="58521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币种金额</a:t>
            </a:r>
            <a:endParaRPr sz="1200" b="0">
              <a:solidFill>
                <a:srgbClr val="000000"/>
              </a:solidFill>
              <a:latin typeface="微软雅黑" panose="020B0503020204020204" charset="-122"/>
            </a:endParaRPr>
          </a:p>
          <a:p>
            <a:pPr algn="ctr">
              <a:spcAft>
                <a:spcPts val="0"/>
              </a:spcAft>
            </a:pPr>
            <a:r>
              <a:rPr sz="1200" b="0">
                <a:solidFill>
                  <a:srgbClr val="000000"/>
                </a:solidFill>
                <a:latin typeface="微软雅黑" panose="020B0503020204020204" charset="-122"/>
              </a:rPr>
              <a:t>汇率参数</a:t>
            </a:r>
            <a:endParaRPr sz="1200" b="0">
              <a:solidFill>
                <a:srgbClr val="000000"/>
              </a:solidFill>
              <a:latin typeface="微软雅黑" panose="020B0503020204020204" charset="-122"/>
            </a:endParaRPr>
          </a:p>
        </p:txBody>
      </p:sp>
      <p:cxnSp>
        <p:nvCxnSpPr>
          <p:cNvPr id="16" name="Connector 15"/>
          <p:cNvCxnSpPr/>
          <p:nvPr/>
        </p:nvCxnSpPr>
        <p:spPr>
          <a:xfrm>
            <a:off x="5839968" y="3377184"/>
            <a:ext cx="353568"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15456" y="2779775"/>
            <a:ext cx="2145792" cy="1194816"/>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6437375" y="2877312"/>
            <a:ext cx="1901952" cy="219456"/>
          </a:xfrm>
          <a:prstGeom prst="rect">
            <a:avLst/>
          </a:prstGeom>
          <a:noFill/>
        </p:spPr>
        <p:txBody>
          <a:bodyPr wrap="square" lIns="24384" tIns="12192" rIns="24384" bIns="12192" anchor="t"/>
          <a:lstStyle/>
          <a:p>
            <a:pPr algn="ctr">
              <a:spcAft>
                <a:spcPts val="0"/>
              </a:spcAft>
            </a:pPr>
            <a:r>
              <a:rPr sz="1495" b="1">
                <a:solidFill>
                  <a:srgbClr val="70AD47"/>
                </a:solidFill>
                <a:latin typeface="微软雅黑" panose="020B0503020204020204" charset="-122"/>
              </a:rPr>
              <a:t>成交</a:t>
            </a:r>
            <a:endParaRPr sz="1495" b="1">
              <a:solidFill>
                <a:srgbClr val="70AD47"/>
              </a:solidFill>
              <a:latin typeface="微软雅黑" panose="020B0503020204020204" charset="-122"/>
            </a:endParaRPr>
          </a:p>
        </p:txBody>
      </p:sp>
      <p:cxnSp>
        <p:nvCxnSpPr>
          <p:cNvPr id="19" name="Connector 18"/>
          <p:cNvCxnSpPr/>
          <p:nvPr/>
        </p:nvCxnSpPr>
        <p:spPr>
          <a:xfrm>
            <a:off x="6583679" y="3182112"/>
            <a:ext cx="1609345" cy="0"/>
          </a:xfrm>
          <a:prstGeom prst="line">
            <a:avLst/>
          </a:prstGeom>
          <a:ln w="13970">
            <a:solidFill>
              <a:srgbClr val="70AD4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73952" y="3304032"/>
            <a:ext cx="1828800" cy="58521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自动执行</a:t>
            </a:r>
            <a:endParaRPr sz="1200" b="0">
              <a:solidFill>
                <a:srgbClr val="000000"/>
              </a:solidFill>
              <a:latin typeface="微软雅黑" panose="020B0503020204020204" charset="-122"/>
            </a:endParaRPr>
          </a:p>
          <a:p>
            <a:pPr algn="ctr">
              <a:spcAft>
                <a:spcPts val="0"/>
              </a:spcAft>
            </a:pPr>
            <a:r>
              <a:rPr sz="1200" b="0">
                <a:solidFill>
                  <a:srgbClr val="000000"/>
                </a:solidFill>
                <a:latin typeface="微软雅黑" panose="020B0503020204020204" charset="-122"/>
              </a:rPr>
              <a:t>确认结果</a:t>
            </a:r>
            <a:endParaRPr sz="1200" b="0">
              <a:solidFill>
                <a:srgbClr val="000000"/>
              </a:solidFill>
              <a:latin typeface="微软雅黑" panose="020B0503020204020204" charset="-122"/>
            </a:endParaRPr>
          </a:p>
        </p:txBody>
      </p:sp>
      <p:cxnSp>
        <p:nvCxnSpPr>
          <p:cNvPr id="21" name="Connector 20"/>
          <p:cNvCxnSpPr/>
          <p:nvPr/>
        </p:nvCxnSpPr>
        <p:spPr>
          <a:xfrm>
            <a:off x="8461248" y="3377184"/>
            <a:ext cx="353568" cy="0"/>
          </a:xfrm>
          <a:prstGeom prst="line">
            <a:avLst/>
          </a:prstGeom>
          <a:ln w="25400">
            <a:solidFill>
              <a:srgbClr val="4472C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36736" y="2779775"/>
            <a:ext cx="2145792" cy="1194816"/>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9058656" y="2877312"/>
            <a:ext cx="1901952" cy="219456"/>
          </a:xfrm>
          <a:prstGeom prst="rect">
            <a:avLst/>
          </a:prstGeom>
          <a:noFill/>
        </p:spPr>
        <p:txBody>
          <a:bodyPr wrap="square" lIns="24384" tIns="12192" rIns="24384" bIns="12192" anchor="t"/>
          <a:lstStyle/>
          <a:p>
            <a:pPr algn="ctr">
              <a:spcAft>
                <a:spcPts val="0"/>
              </a:spcAft>
            </a:pPr>
            <a:r>
              <a:rPr sz="1495" b="1">
                <a:solidFill>
                  <a:srgbClr val="70AD47"/>
                </a:solidFill>
                <a:latin typeface="微软雅黑" panose="020B0503020204020204" charset="-122"/>
              </a:rPr>
              <a:t>交割</a:t>
            </a:r>
            <a:endParaRPr sz="1495" b="1">
              <a:solidFill>
                <a:srgbClr val="70AD47"/>
              </a:solidFill>
              <a:latin typeface="微软雅黑" panose="020B0503020204020204" charset="-122"/>
            </a:endParaRPr>
          </a:p>
        </p:txBody>
      </p:sp>
      <p:cxnSp>
        <p:nvCxnSpPr>
          <p:cNvPr id="24" name="Connector 23"/>
          <p:cNvCxnSpPr/>
          <p:nvPr/>
        </p:nvCxnSpPr>
        <p:spPr>
          <a:xfrm>
            <a:off x="9204960" y="3182112"/>
            <a:ext cx="1609343" cy="0"/>
          </a:xfrm>
          <a:prstGeom prst="line">
            <a:avLst/>
          </a:prstGeom>
          <a:ln w="13970">
            <a:solidFill>
              <a:srgbClr val="70AD4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095232" y="3304032"/>
            <a:ext cx="1828800" cy="58521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实盘交易</a:t>
            </a:r>
            <a:endParaRPr sz="1200" b="0">
              <a:solidFill>
                <a:srgbClr val="000000"/>
              </a:solidFill>
              <a:latin typeface="微软雅黑" panose="020B0503020204020204" charset="-122"/>
            </a:endParaRPr>
          </a:p>
          <a:p>
            <a:pPr algn="ctr">
              <a:spcAft>
                <a:spcPts val="0"/>
              </a:spcAft>
            </a:pPr>
            <a:r>
              <a:rPr sz="1200" b="0">
                <a:solidFill>
                  <a:srgbClr val="FF0000"/>
                </a:solidFill>
                <a:latin typeface="微软雅黑" panose="020B0503020204020204" charset="-122"/>
              </a:rPr>
              <a:t>T+0清算</a:t>
            </a:r>
            <a:endParaRPr sz="1200" b="0">
              <a:solidFill>
                <a:srgbClr val="FF0000"/>
              </a:solidFill>
              <a:latin typeface="微软雅黑" panose="020B0503020204020204" charset="-122"/>
            </a:endParaRPr>
          </a:p>
        </p:txBody>
      </p:sp>
      <p:sp>
        <p:nvSpPr>
          <p:cNvPr id="26" name="TextBox 25"/>
          <p:cNvSpPr txBox="1"/>
          <p:nvPr/>
        </p:nvSpPr>
        <p:spPr>
          <a:xfrm>
            <a:off x="877824" y="4328160"/>
            <a:ext cx="2560320" cy="268224"/>
          </a:xfrm>
          <a:prstGeom prst="rect">
            <a:avLst/>
          </a:prstGeom>
          <a:noFill/>
        </p:spPr>
        <p:txBody>
          <a:bodyPr wrap="square" lIns="24384" tIns="12192" rIns="24384" bIns="12192" anchor="t"/>
          <a:lstStyle/>
          <a:p>
            <a:pPr algn="l">
              <a:spcAft>
                <a:spcPts val="0"/>
              </a:spcAft>
            </a:pPr>
            <a:r>
              <a:rPr sz="1895" b="1">
                <a:solidFill>
                  <a:srgbClr val="4472C4"/>
                </a:solidFill>
                <a:latin typeface="微软雅黑" panose="020B0503020204020204" charset="-122"/>
              </a:rPr>
              <a:t>收益逻辑</a:t>
            </a:r>
            <a:endParaRPr sz="1895" b="1">
              <a:solidFill>
                <a:srgbClr val="4472C4"/>
              </a:solidFill>
              <a:latin typeface="微软雅黑" panose="020B0503020204020204" charset="-122"/>
            </a:endParaRPr>
          </a:p>
        </p:txBody>
      </p:sp>
      <p:sp>
        <p:nvSpPr>
          <p:cNvPr id="27" name="Rounded Rectangle 26"/>
          <p:cNvSpPr/>
          <p:nvPr/>
        </p:nvSpPr>
        <p:spPr>
          <a:xfrm>
            <a:off x="1121664" y="4730496"/>
            <a:ext cx="2377440" cy="950976"/>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1243584" y="4828032"/>
            <a:ext cx="2133600" cy="219456"/>
          </a:xfrm>
          <a:prstGeom prst="rect">
            <a:avLst/>
          </a:prstGeom>
          <a:noFill/>
        </p:spPr>
        <p:txBody>
          <a:bodyPr wrap="square" lIns="24384" tIns="12192" rIns="24384" bIns="12192" anchor="t"/>
          <a:lstStyle/>
          <a:p>
            <a:pPr algn="ctr">
              <a:spcAft>
                <a:spcPts val="0"/>
              </a:spcAft>
            </a:pPr>
            <a:r>
              <a:rPr sz="1495" b="1">
                <a:solidFill>
                  <a:srgbClr val="4472C4"/>
                </a:solidFill>
                <a:latin typeface="微软雅黑" panose="020B0503020204020204" charset="-122"/>
              </a:rPr>
              <a:t>保值</a:t>
            </a:r>
            <a:endParaRPr sz="1495" b="1">
              <a:solidFill>
                <a:srgbClr val="4472C4"/>
              </a:solidFill>
              <a:latin typeface="微软雅黑" panose="020B0503020204020204" charset="-122"/>
            </a:endParaRPr>
          </a:p>
        </p:txBody>
      </p:sp>
      <p:cxnSp>
        <p:nvCxnSpPr>
          <p:cNvPr id="29" name="Connector 28"/>
          <p:cNvCxnSpPr/>
          <p:nvPr/>
        </p:nvCxnSpPr>
        <p:spPr>
          <a:xfrm>
            <a:off x="1389888" y="5132832"/>
            <a:ext cx="1840992" cy="0"/>
          </a:xfrm>
          <a:prstGeom prst="line">
            <a:avLst/>
          </a:prstGeom>
          <a:ln w="13970">
            <a:solidFill>
              <a:srgbClr val="4472C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280160" y="5254751"/>
            <a:ext cx="2060448" cy="34137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对冲资产</a:t>
            </a:r>
            <a:endParaRPr sz="1200" b="0">
              <a:solidFill>
                <a:srgbClr val="000000"/>
              </a:solidFill>
              <a:latin typeface="微软雅黑" panose="020B0503020204020204" charset="-122"/>
            </a:endParaRPr>
          </a:p>
          <a:p>
            <a:pPr algn="ctr">
              <a:spcAft>
                <a:spcPts val="0"/>
              </a:spcAft>
            </a:pPr>
            <a:r>
              <a:rPr sz="1200" b="0">
                <a:solidFill>
                  <a:srgbClr val="000000"/>
                </a:solidFill>
                <a:latin typeface="微软雅黑" panose="020B0503020204020204" charset="-122"/>
              </a:rPr>
              <a:t>币种风险</a:t>
            </a:r>
            <a:endParaRPr sz="1200" b="0">
              <a:solidFill>
                <a:srgbClr val="000000"/>
              </a:solidFill>
              <a:latin typeface="微软雅黑" panose="020B0503020204020204" charset="-122"/>
            </a:endParaRPr>
          </a:p>
        </p:txBody>
      </p:sp>
      <p:sp>
        <p:nvSpPr>
          <p:cNvPr id="31" name="Rounded Rectangle 30"/>
          <p:cNvSpPr/>
          <p:nvPr/>
        </p:nvSpPr>
        <p:spPr>
          <a:xfrm>
            <a:off x="3755136" y="4730496"/>
            <a:ext cx="2377440" cy="950976"/>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3877056" y="4828032"/>
            <a:ext cx="2133600" cy="219456"/>
          </a:xfrm>
          <a:prstGeom prst="rect">
            <a:avLst/>
          </a:prstGeom>
          <a:noFill/>
        </p:spPr>
        <p:txBody>
          <a:bodyPr wrap="square" lIns="24384" tIns="12192" rIns="24384" bIns="12192" anchor="t"/>
          <a:lstStyle/>
          <a:p>
            <a:pPr algn="ctr">
              <a:spcAft>
                <a:spcPts val="0"/>
              </a:spcAft>
            </a:pPr>
            <a:r>
              <a:rPr sz="1495" b="1">
                <a:solidFill>
                  <a:srgbClr val="70AD47"/>
                </a:solidFill>
                <a:latin typeface="微软雅黑" panose="020B0503020204020204" charset="-122"/>
              </a:rPr>
              <a:t>增值</a:t>
            </a:r>
            <a:endParaRPr sz="1495" b="1">
              <a:solidFill>
                <a:srgbClr val="70AD47"/>
              </a:solidFill>
              <a:latin typeface="微软雅黑" panose="020B0503020204020204" charset="-122"/>
            </a:endParaRPr>
          </a:p>
        </p:txBody>
      </p:sp>
      <p:cxnSp>
        <p:nvCxnSpPr>
          <p:cNvPr id="33" name="Connector 32"/>
          <p:cNvCxnSpPr/>
          <p:nvPr/>
        </p:nvCxnSpPr>
        <p:spPr>
          <a:xfrm>
            <a:off x="4023360" y="5132832"/>
            <a:ext cx="1840992" cy="0"/>
          </a:xfrm>
          <a:prstGeom prst="line">
            <a:avLst/>
          </a:prstGeom>
          <a:ln w="13970">
            <a:solidFill>
              <a:srgbClr val="70AD47"/>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913632" y="5254751"/>
            <a:ext cx="2060448" cy="34137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汇率波动</a:t>
            </a:r>
            <a:endParaRPr sz="1200" b="0">
              <a:solidFill>
                <a:srgbClr val="000000"/>
              </a:solidFill>
              <a:latin typeface="微软雅黑" panose="020B0503020204020204" charset="-122"/>
            </a:endParaRPr>
          </a:p>
          <a:p>
            <a:pPr algn="ctr">
              <a:spcAft>
                <a:spcPts val="0"/>
              </a:spcAft>
            </a:pPr>
            <a:r>
              <a:rPr sz="1200" b="0">
                <a:solidFill>
                  <a:srgbClr val="000000"/>
                </a:solidFill>
                <a:latin typeface="微软雅黑" panose="020B0503020204020204" charset="-122"/>
              </a:rPr>
              <a:t>汇差收益</a:t>
            </a:r>
            <a:endParaRPr sz="1200" b="0">
              <a:solidFill>
                <a:srgbClr val="000000"/>
              </a:solidFill>
              <a:latin typeface="微软雅黑" panose="020B0503020204020204" charset="-122"/>
            </a:endParaRPr>
          </a:p>
        </p:txBody>
      </p:sp>
      <p:sp>
        <p:nvSpPr>
          <p:cNvPr id="35" name="Rounded Rectangle 34"/>
          <p:cNvSpPr/>
          <p:nvPr/>
        </p:nvSpPr>
        <p:spPr>
          <a:xfrm>
            <a:off x="6388608" y="4730496"/>
            <a:ext cx="2377440" cy="950976"/>
          </a:xfrm>
          <a:prstGeom prst="roundRect">
            <a:avLst/>
          </a:prstGeom>
          <a:solidFill>
            <a:srgbClr val="FFF7EE"/>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6510528" y="4828032"/>
            <a:ext cx="2133600" cy="219456"/>
          </a:xfrm>
          <a:prstGeom prst="rect">
            <a:avLst/>
          </a:prstGeom>
          <a:noFill/>
        </p:spPr>
        <p:txBody>
          <a:bodyPr wrap="square" lIns="24384" tIns="12192" rIns="24384" bIns="12192" anchor="t"/>
          <a:lstStyle/>
          <a:p>
            <a:pPr algn="ctr">
              <a:spcAft>
                <a:spcPts val="0"/>
              </a:spcAft>
            </a:pPr>
            <a:r>
              <a:rPr sz="1495" b="1">
                <a:solidFill>
                  <a:srgbClr val="ED7D31"/>
                </a:solidFill>
                <a:latin typeface="微软雅黑" panose="020B0503020204020204" charset="-122"/>
              </a:rPr>
              <a:t>套利</a:t>
            </a:r>
            <a:endParaRPr sz="1495" b="1">
              <a:solidFill>
                <a:srgbClr val="ED7D31"/>
              </a:solidFill>
              <a:latin typeface="微软雅黑" panose="020B0503020204020204" charset="-122"/>
            </a:endParaRPr>
          </a:p>
        </p:txBody>
      </p:sp>
      <p:cxnSp>
        <p:nvCxnSpPr>
          <p:cNvPr id="37" name="Connector 36"/>
          <p:cNvCxnSpPr/>
          <p:nvPr/>
        </p:nvCxnSpPr>
        <p:spPr>
          <a:xfrm>
            <a:off x="6656832" y="5132832"/>
            <a:ext cx="1840992" cy="0"/>
          </a:xfrm>
          <a:prstGeom prst="line">
            <a:avLst/>
          </a:prstGeom>
          <a:ln w="13970">
            <a:solidFill>
              <a:srgbClr val="ED7D3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547104" y="5254751"/>
            <a:ext cx="2060448" cy="341376"/>
          </a:xfrm>
          <a:prstGeom prst="rect">
            <a:avLst/>
          </a:prstGeom>
          <a:noFill/>
        </p:spPr>
        <p:txBody>
          <a:bodyPr wrap="square" lIns="24384" tIns="12192" rIns="24384" bIns="12192" anchor="t"/>
          <a:lstStyle/>
          <a:p>
            <a:pPr algn="ctr">
              <a:spcAft>
                <a:spcPts val="0"/>
              </a:spcAft>
            </a:pPr>
            <a:r>
              <a:rPr sz="1200" b="0">
                <a:solidFill>
                  <a:srgbClr val="000000"/>
                </a:solidFill>
                <a:latin typeface="微软雅黑" panose="020B0503020204020204" charset="-122"/>
              </a:rPr>
              <a:t>利率差异</a:t>
            </a:r>
            <a:endParaRPr sz="1200" b="0">
              <a:solidFill>
                <a:srgbClr val="000000"/>
              </a:solidFill>
              <a:latin typeface="微软雅黑" panose="020B0503020204020204" charset="-122"/>
            </a:endParaRPr>
          </a:p>
          <a:p>
            <a:pPr algn="ctr">
              <a:spcAft>
                <a:spcPts val="0"/>
              </a:spcAft>
            </a:pPr>
            <a:r>
              <a:rPr sz="1200" b="0">
                <a:solidFill>
                  <a:srgbClr val="000000"/>
                </a:solidFill>
                <a:latin typeface="微软雅黑" panose="020B0503020204020204" charset="-122"/>
              </a:rPr>
              <a:t>汇率变化</a:t>
            </a:r>
            <a:endParaRPr sz="1200" b="0">
              <a:solidFill>
                <a:srgbClr val="000000"/>
              </a:solidFill>
              <a:latin typeface="微软雅黑" panose="020B0503020204020204" charset="-122"/>
            </a:endParaRPr>
          </a:p>
        </p:txBody>
      </p:sp>
      <p:sp>
        <p:nvSpPr>
          <p:cNvPr id="39" name="Rounded Rectangle 38"/>
          <p:cNvSpPr/>
          <p:nvPr/>
        </p:nvSpPr>
        <p:spPr>
          <a:xfrm>
            <a:off x="9241536" y="4584192"/>
            <a:ext cx="2133600" cy="1170432"/>
          </a:xfrm>
          <a:prstGeom prst="roundRect">
            <a:avLst/>
          </a:prstGeom>
          <a:solidFill>
            <a:srgbClr val="FFF6F6"/>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TextBox 39"/>
          <p:cNvSpPr txBox="1"/>
          <p:nvPr/>
        </p:nvSpPr>
        <p:spPr>
          <a:xfrm>
            <a:off x="9436608" y="4767072"/>
            <a:ext cx="1755648" cy="219456"/>
          </a:xfrm>
          <a:prstGeom prst="rect">
            <a:avLst/>
          </a:prstGeom>
          <a:noFill/>
        </p:spPr>
        <p:txBody>
          <a:bodyPr wrap="square" lIns="24384" tIns="12192" rIns="24384" bIns="12192" anchor="t"/>
          <a:lstStyle/>
          <a:p>
            <a:pPr algn="ctr">
              <a:spcAft>
                <a:spcPts val="0"/>
              </a:spcAft>
            </a:pPr>
            <a:r>
              <a:rPr sz="1495" b="1">
                <a:solidFill>
                  <a:srgbClr val="C00000"/>
                </a:solidFill>
                <a:latin typeface="微软雅黑" panose="020B0503020204020204" charset="-122"/>
              </a:rPr>
              <a:t>风险边界</a:t>
            </a:r>
            <a:endParaRPr sz="1495" b="1">
              <a:solidFill>
                <a:srgbClr val="C00000"/>
              </a:solidFill>
              <a:latin typeface="微软雅黑" panose="020B0503020204020204" charset="-122"/>
            </a:endParaRPr>
          </a:p>
        </p:txBody>
      </p:sp>
      <p:cxnSp>
        <p:nvCxnSpPr>
          <p:cNvPr id="41" name="Connector 40"/>
          <p:cNvCxnSpPr/>
          <p:nvPr/>
        </p:nvCxnSpPr>
        <p:spPr>
          <a:xfrm>
            <a:off x="9534144" y="5071872"/>
            <a:ext cx="153619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460992" y="5303519"/>
            <a:ext cx="1731264" cy="219456"/>
          </a:xfrm>
          <a:prstGeom prst="rect">
            <a:avLst/>
          </a:prstGeom>
          <a:noFill/>
        </p:spPr>
        <p:txBody>
          <a:bodyPr wrap="square" lIns="24384" tIns="12192" rIns="24384" bIns="12192" anchor="t"/>
          <a:lstStyle/>
          <a:p>
            <a:pPr algn="ctr">
              <a:spcAft>
                <a:spcPts val="0"/>
              </a:spcAft>
            </a:pPr>
            <a:r>
              <a:rPr sz="1225" b="0">
                <a:solidFill>
                  <a:srgbClr val="000000"/>
                </a:solidFill>
                <a:latin typeface="微软雅黑" panose="020B0503020204020204" charset="-122"/>
              </a:rPr>
              <a:t>自动化不等于无风险</a:t>
            </a:r>
            <a:endParaRPr sz="1225" b="0">
              <a:solidFill>
                <a:srgbClr val="000000"/>
              </a:solidFill>
              <a:latin typeface="微软雅黑" panose="020B0503020204020204" charset="-122"/>
            </a:endParaRPr>
          </a:p>
        </p:txBody>
      </p:sp>
      <p:sp>
        <p:nvSpPr>
          <p:cNvPr id="43" name="Rounded Rectangle 42"/>
          <p:cNvSpPr/>
          <p:nvPr/>
        </p:nvSpPr>
        <p:spPr>
          <a:xfrm>
            <a:off x="1121664" y="5998464"/>
            <a:ext cx="9204960" cy="341376"/>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1341120" y="6071616"/>
            <a:ext cx="8778240" cy="158496"/>
          </a:xfrm>
          <a:prstGeom prst="rect">
            <a:avLst/>
          </a:prstGeom>
          <a:noFill/>
        </p:spPr>
        <p:txBody>
          <a:bodyPr wrap="square" lIns="24384" tIns="12192" rIns="24384" bIns="12192" anchor="t"/>
          <a:lstStyle/>
          <a:p>
            <a:pPr algn="l">
              <a:spcAft>
                <a:spcPts val="0"/>
              </a:spcAft>
            </a:pPr>
            <a:r>
              <a:rPr sz="1335" b="0">
                <a:solidFill>
                  <a:srgbClr val="525252"/>
                </a:solidFill>
                <a:latin typeface="微软雅黑" panose="020B0503020204020204" charset="-122"/>
              </a:rPr>
              <a:t>风险提示：汇率波动、报价点差、交易费用、成交确认与免责条款仍需纳入决策。</a:t>
            </a:r>
            <a:endParaRPr sz="1335" b="0">
              <a:solidFill>
                <a:srgbClr val="525252"/>
              </a:solidFill>
              <a:latin typeface="微软雅黑" panose="020B0503020204020204" charset="-122"/>
            </a:endParaRPr>
          </a:p>
        </p:txBody>
      </p:sp>
      <p:sp>
        <p:nvSpPr>
          <p:cNvPr id="45" name="Parallelogram 44"/>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6" name="Rectangle 45"/>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41376" y="548640"/>
            <a:ext cx="10607039" cy="438912"/>
          </a:xfrm>
          <a:prstGeom prst="rect">
            <a:avLst/>
          </a:prstGeom>
          <a:noFill/>
        </p:spPr>
        <p:txBody>
          <a:bodyPr wrap="square" lIns="24384" tIns="12192" rIns="24384" bIns="12192" anchor="t"/>
          <a:lstStyle/>
          <a:p>
            <a:pPr algn="l">
              <a:spcAft>
                <a:spcPts val="0"/>
              </a:spcAft>
            </a:pPr>
            <a:r>
              <a:rPr sz="2600" b="1">
                <a:solidFill>
                  <a:srgbClr val="4472C4"/>
                </a:solidFill>
                <a:latin typeface="黑体" panose="02010609060101010101" charset="-122"/>
              </a:rPr>
              <a:t>T+0 清算的核心定义与运行机制</a:t>
            </a:r>
            <a:endParaRPr sz="2600" b="1">
              <a:solidFill>
                <a:srgbClr val="4472C4"/>
              </a:solidFill>
              <a:latin typeface="黑体" panose="02010609060101010101" charset="-122"/>
            </a:endParaRPr>
          </a:p>
        </p:txBody>
      </p:sp>
      <p:sp>
        <p:nvSpPr>
          <p:cNvPr id="3" name="TextBox 2"/>
          <p:cNvSpPr txBox="1"/>
          <p:nvPr/>
        </p:nvSpPr>
        <p:spPr>
          <a:xfrm>
            <a:off x="670560" y="1292352"/>
            <a:ext cx="243840" cy="243840"/>
          </a:xfrm>
          <a:prstGeom prst="rect">
            <a:avLst/>
          </a:prstGeom>
          <a:noFill/>
        </p:spPr>
        <p:txBody>
          <a:bodyPr wrap="square" lIns="24384" tIns="12192" rIns="24384" bIns="12192" anchor="t"/>
          <a:lstStyle/>
          <a:p>
            <a:pPr algn="l">
              <a:spcAft>
                <a:spcPts val="0"/>
              </a:spcAft>
            </a:pPr>
            <a:r>
              <a:rPr sz="1465" b="1">
                <a:solidFill>
                  <a:srgbClr val="4472C4"/>
                </a:solidFill>
                <a:latin typeface="黑体" panose="02010609060101010101" charset="-122"/>
              </a:rPr>
              <a:t>➤</a:t>
            </a:r>
            <a:endParaRPr sz="1465" b="1">
              <a:solidFill>
                <a:srgbClr val="4472C4"/>
              </a:solidFill>
              <a:latin typeface="黑体" panose="02010609060101010101" charset="-122"/>
            </a:endParaRPr>
          </a:p>
        </p:txBody>
      </p:sp>
      <p:sp>
        <p:nvSpPr>
          <p:cNvPr id="4" name="TextBox 3"/>
          <p:cNvSpPr txBox="1"/>
          <p:nvPr/>
        </p:nvSpPr>
        <p:spPr>
          <a:xfrm>
            <a:off x="975360" y="1280160"/>
            <a:ext cx="3389376" cy="219456"/>
          </a:xfrm>
          <a:prstGeom prst="rect">
            <a:avLst/>
          </a:prstGeom>
          <a:noFill/>
        </p:spPr>
        <p:txBody>
          <a:bodyPr wrap="square" lIns="24384" tIns="12192" rIns="24384" bIns="12192" anchor="t"/>
          <a:lstStyle/>
          <a:p>
            <a:pPr algn="l">
              <a:spcAft>
                <a:spcPts val="0"/>
              </a:spcAft>
            </a:pPr>
            <a:r>
              <a:rPr sz="1425" b="1">
                <a:solidFill>
                  <a:srgbClr val="4472C4"/>
                </a:solidFill>
                <a:latin typeface="黑体" panose="02010609060101010101" charset="-122"/>
              </a:rPr>
              <a:t>T 的含义</a:t>
            </a:r>
            <a:endParaRPr sz="1425" b="1">
              <a:solidFill>
                <a:srgbClr val="4472C4"/>
              </a:solidFill>
              <a:latin typeface="黑体" panose="02010609060101010101" charset="-122"/>
            </a:endParaRPr>
          </a:p>
        </p:txBody>
      </p:sp>
      <p:sp>
        <p:nvSpPr>
          <p:cNvPr id="5" name="TextBox 4"/>
          <p:cNvSpPr txBox="1"/>
          <p:nvPr/>
        </p:nvSpPr>
        <p:spPr>
          <a:xfrm>
            <a:off x="975360" y="1548384"/>
            <a:ext cx="3389376" cy="512064"/>
          </a:xfrm>
          <a:prstGeom prst="rect">
            <a:avLst/>
          </a:prstGeom>
          <a:noFill/>
        </p:spPr>
        <p:txBody>
          <a:bodyPr wrap="square" lIns="24384" tIns="12192" rIns="24384" bIns="12192" anchor="t"/>
          <a:lstStyle/>
          <a:p>
            <a:pPr algn="l">
              <a:spcAft>
                <a:spcPts val="0"/>
              </a:spcAft>
            </a:pPr>
            <a:r>
              <a:rPr sz="1175" b="0">
                <a:solidFill>
                  <a:srgbClr val="000000"/>
                </a:solidFill>
                <a:latin typeface="宋体" panose="02010600030101010101" pitchFamily="2" charset="-122"/>
              </a:rPr>
              <a:t>Trade Day，即交易达成日期；</a:t>
            </a:r>
            <a:endParaRPr sz="1175" b="0">
              <a:solidFill>
                <a:srgbClr val="000000"/>
              </a:solidFill>
              <a:latin typeface="宋体" panose="02010600030101010101" pitchFamily="2" charset="-122"/>
            </a:endParaRPr>
          </a:p>
          <a:p>
            <a:pPr algn="l">
              <a:spcAft>
                <a:spcPts val="0"/>
              </a:spcAft>
            </a:pPr>
            <a:r>
              <a:rPr sz="1175" b="0">
                <a:solidFill>
                  <a:srgbClr val="000000"/>
                </a:solidFill>
                <a:latin typeface="宋体" panose="02010600030101010101" pitchFamily="2" charset="-122"/>
              </a:rPr>
              <a:t>清算周期以交易日为起点。</a:t>
            </a:r>
            <a:endParaRPr sz="1175" b="0">
              <a:solidFill>
                <a:srgbClr val="000000"/>
              </a:solidFill>
              <a:latin typeface="宋体" panose="02010600030101010101" pitchFamily="2" charset="-122"/>
            </a:endParaRPr>
          </a:p>
        </p:txBody>
      </p:sp>
      <p:sp>
        <p:nvSpPr>
          <p:cNvPr id="6" name="TextBox 5"/>
          <p:cNvSpPr txBox="1"/>
          <p:nvPr/>
        </p:nvSpPr>
        <p:spPr>
          <a:xfrm>
            <a:off x="670560" y="2255520"/>
            <a:ext cx="243840" cy="243840"/>
          </a:xfrm>
          <a:prstGeom prst="rect">
            <a:avLst/>
          </a:prstGeom>
          <a:noFill/>
        </p:spPr>
        <p:txBody>
          <a:bodyPr wrap="square" lIns="24384" tIns="12192" rIns="24384" bIns="12192" anchor="t"/>
          <a:lstStyle/>
          <a:p>
            <a:pPr algn="l">
              <a:spcAft>
                <a:spcPts val="0"/>
              </a:spcAft>
            </a:pPr>
            <a:r>
              <a:rPr sz="1465" b="1">
                <a:solidFill>
                  <a:srgbClr val="70AD47"/>
                </a:solidFill>
                <a:latin typeface="黑体" panose="02010609060101010101" charset="-122"/>
              </a:rPr>
              <a:t>➤</a:t>
            </a:r>
            <a:endParaRPr sz="1465" b="1">
              <a:solidFill>
                <a:srgbClr val="70AD47"/>
              </a:solidFill>
              <a:latin typeface="黑体" panose="02010609060101010101" charset="-122"/>
            </a:endParaRPr>
          </a:p>
        </p:txBody>
      </p:sp>
      <p:sp>
        <p:nvSpPr>
          <p:cNvPr id="7" name="TextBox 6"/>
          <p:cNvSpPr txBox="1"/>
          <p:nvPr/>
        </p:nvSpPr>
        <p:spPr>
          <a:xfrm>
            <a:off x="975360" y="2243328"/>
            <a:ext cx="3389376" cy="219456"/>
          </a:xfrm>
          <a:prstGeom prst="rect">
            <a:avLst/>
          </a:prstGeom>
          <a:noFill/>
        </p:spPr>
        <p:txBody>
          <a:bodyPr wrap="square" lIns="24384" tIns="12192" rIns="24384" bIns="12192" anchor="t"/>
          <a:lstStyle/>
          <a:p>
            <a:pPr algn="l">
              <a:spcAft>
                <a:spcPts val="0"/>
              </a:spcAft>
            </a:pPr>
            <a:r>
              <a:rPr sz="1425" b="1">
                <a:solidFill>
                  <a:srgbClr val="70AD47"/>
                </a:solidFill>
                <a:latin typeface="黑体" panose="02010609060101010101" charset="-122"/>
              </a:rPr>
              <a:t>+0 的含义</a:t>
            </a:r>
            <a:endParaRPr sz="1425" b="1">
              <a:solidFill>
                <a:srgbClr val="70AD47"/>
              </a:solidFill>
              <a:latin typeface="黑体" panose="02010609060101010101" charset="-122"/>
            </a:endParaRPr>
          </a:p>
        </p:txBody>
      </p:sp>
      <p:sp>
        <p:nvSpPr>
          <p:cNvPr id="8" name="TextBox 7"/>
          <p:cNvSpPr txBox="1"/>
          <p:nvPr/>
        </p:nvSpPr>
        <p:spPr>
          <a:xfrm>
            <a:off x="975360" y="2511552"/>
            <a:ext cx="3389376" cy="512064"/>
          </a:xfrm>
          <a:prstGeom prst="rect">
            <a:avLst/>
          </a:prstGeom>
          <a:noFill/>
        </p:spPr>
        <p:txBody>
          <a:bodyPr wrap="square" lIns="24384" tIns="12192" rIns="24384" bIns="12192" anchor="t"/>
          <a:lstStyle/>
          <a:p>
            <a:pPr algn="l">
              <a:spcAft>
                <a:spcPts val="0"/>
              </a:spcAft>
            </a:pPr>
            <a:r>
              <a:rPr sz="1175" b="0">
                <a:solidFill>
                  <a:srgbClr val="000000"/>
                </a:solidFill>
                <a:latin typeface="宋体" panose="02010600030101010101" pitchFamily="2" charset="-122"/>
              </a:rPr>
              <a:t>清算、交割和资金到账在当天完成；</a:t>
            </a:r>
            <a:endParaRPr sz="1175" b="0">
              <a:solidFill>
                <a:srgbClr val="000000"/>
              </a:solidFill>
              <a:latin typeface="宋体" panose="02010600030101010101" pitchFamily="2" charset="-122"/>
            </a:endParaRPr>
          </a:p>
          <a:p>
            <a:pPr algn="l">
              <a:spcAft>
                <a:spcPts val="0"/>
              </a:spcAft>
            </a:pPr>
            <a:r>
              <a:rPr sz="1175" b="0">
                <a:solidFill>
                  <a:srgbClr val="000000"/>
                </a:solidFill>
                <a:latin typeface="宋体" panose="02010600030101010101" pitchFamily="2" charset="-122"/>
              </a:rPr>
              <a:t>部分场景可接近瞬时到账。</a:t>
            </a:r>
            <a:endParaRPr sz="1175" b="0">
              <a:solidFill>
                <a:srgbClr val="000000"/>
              </a:solidFill>
              <a:latin typeface="宋体" panose="02010600030101010101" pitchFamily="2" charset="-122"/>
            </a:endParaRPr>
          </a:p>
        </p:txBody>
      </p:sp>
      <p:sp>
        <p:nvSpPr>
          <p:cNvPr id="9" name="TextBox 8"/>
          <p:cNvSpPr txBox="1"/>
          <p:nvPr/>
        </p:nvSpPr>
        <p:spPr>
          <a:xfrm>
            <a:off x="670560" y="3218687"/>
            <a:ext cx="243840" cy="243840"/>
          </a:xfrm>
          <a:prstGeom prst="rect">
            <a:avLst/>
          </a:prstGeom>
          <a:noFill/>
        </p:spPr>
        <p:txBody>
          <a:bodyPr wrap="square" lIns="24384" tIns="12192" rIns="24384" bIns="12192" anchor="t"/>
          <a:lstStyle/>
          <a:p>
            <a:pPr algn="l">
              <a:spcAft>
                <a:spcPts val="0"/>
              </a:spcAft>
            </a:pPr>
            <a:r>
              <a:rPr sz="1465" b="1">
                <a:solidFill>
                  <a:srgbClr val="ED7D31"/>
                </a:solidFill>
                <a:latin typeface="黑体" panose="02010609060101010101" charset="-122"/>
              </a:rPr>
              <a:t>➤</a:t>
            </a:r>
            <a:endParaRPr sz="1465" b="1">
              <a:solidFill>
                <a:srgbClr val="ED7D31"/>
              </a:solidFill>
              <a:latin typeface="黑体" panose="02010609060101010101" charset="-122"/>
            </a:endParaRPr>
          </a:p>
        </p:txBody>
      </p:sp>
      <p:sp>
        <p:nvSpPr>
          <p:cNvPr id="10" name="TextBox 9"/>
          <p:cNvSpPr txBox="1"/>
          <p:nvPr/>
        </p:nvSpPr>
        <p:spPr>
          <a:xfrm>
            <a:off x="975360" y="3206496"/>
            <a:ext cx="3389376" cy="219456"/>
          </a:xfrm>
          <a:prstGeom prst="rect">
            <a:avLst/>
          </a:prstGeom>
          <a:noFill/>
        </p:spPr>
        <p:txBody>
          <a:bodyPr wrap="square" lIns="24384" tIns="12192" rIns="24384" bIns="12192" anchor="t"/>
          <a:lstStyle/>
          <a:p>
            <a:pPr algn="l">
              <a:spcAft>
                <a:spcPts val="0"/>
              </a:spcAft>
            </a:pPr>
            <a:r>
              <a:rPr sz="1425" b="1">
                <a:solidFill>
                  <a:srgbClr val="ED7D31"/>
                </a:solidFill>
                <a:latin typeface="黑体" panose="02010609060101010101" charset="-122"/>
              </a:rPr>
              <a:t>资金实时可用</a:t>
            </a:r>
            <a:endParaRPr sz="1425" b="1">
              <a:solidFill>
                <a:srgbClr val="ED7D31"/>
              </a:solidFill>
              <a:latin typeface="黑体" panose="02010609060101010101" charset="-122"/>
            </a:endParaRPr>
          </a:p>
        </p:txBody>
      </p:sp>
      <p:sp>
        <p:nvSpPr>
          <p:cNvPr id="11" name="TextBox 10"/>
          <p:cNvSpPr txBox="1"/>
          <p:nvPr/>
        </p:nvSpPr>
        <p:spPr>
          <a:xfrm>
            <a:off x="975360" y="3474720"/>
            <a:ext cx="3389376" cy="512064"/>
          </a:xfrm>
          <a:prstGeom prst="rect">
            <a:avLst/>
          </a:prstGeom>
          <a:noFill/>
        </p:spPr>
        <p:txBody>
          <a:bodyPr wrap="square" lIns="24384" tIns="12192" rIns="24384" bIns="12192" anchor="t"/>
          <a:lstStyle/>
          <a:p>
            <a:pPr algn="l">
              <a:spcAft>
                <a:spcPts val="0"/>
              </a:spcAft>
            </a:pPr>
            <a:r>
              <a:rPr sz="1175" b="0">
                <a:solidFill>
                  <a:srgbClr val="000000"/>
                </a:solidFill>
                <a:latin typeface="宋体" panose="02010600030101010101" pitchFamily="2" charset="-122"/>
              </a:rPr>
              <a:t>卖出资产后资金立即回到账户；</a:t>
            </a:r>
            <a:endParaRPr sz="1175" b="0">
              <a:solidFill>
                <a:srgbClr val="000000"/>
              </a:solidFill>
              <a:latin typeface="宋体" panose="02010600030101010101" pitchFamily="2" charset="-122"/>
            </a:endParaRPr>
          </a:p>
          <a:p>
            <a:pPr algn="l">
              <a:spcAft>
                <a:spcPts val="0"/>
              </a:spcAft>
            </a:pPr>
            <a:r>
              <a:rPr sz="1175" b="0">
                <a:solidFill>
                  <a:srgbClr val="000000"/>
                </a:solidFill>
                <a:latin typeface="宋体" panose="02010600030101010101" pitchFamily="2" charset="-122"/>
              </a:rPr>
              <a:t>可立刻进入下一笔投资。</a:t>
            </a:r>
            <a:endParaRPr sz="1175" b="0">
              <a:solidFill>
                <a:srgbClr val="000000"/>
              </a:solidFill>
              <a:latin typeface="宋体" panose="02010600030101010101" pitchFamily="2" charset="-122"/>
            </a:endParaRPr>
          </a:p>
        </p:txBody>
      </p:sp>
      <p:sp>
        <p:nvSpPr>
          <p:cNvPr id="12" name="TextBox 11"/>
          <p:cNvSpPr txBox="1"/>
          <p:nvPr/>
        </p:nvSpPr>
        <p:spPr>
          <a:xfrm>
            <a:off x="670560" y="4181855"/>
            <a:ext cx="243840" cy="243840"/>
          </a:xfrm>
          <a:prstGeom prst="rect">
            <a:avLst/>
          </a:prstGeom>
          <a:noFill/>
        </p:spPr>
        <p:txBody>
          <a:bodyPr wrap="square" lIns="24384" tIns="12192" rIns="24384" bIns="12192" anchor="t"/>
          <a:lstStyle/>
          <a:p>
            <a:pPr algn="l">
              <a:spcAft>
                <a:spcPts val="0"/>
              </a:spcAft>
            </a:pPr>
            <a:r>
              <a:rPr sz="1465" b="1">
                <a:solidFill>
                  <a:srgbClr val="4472C4"/>
                </a:solidFill>
                <a:latin typeface="黑体" panose="02010609060101010101" charset="-122"/>
              </a:rPr>
              <a:t>➤</a:t>
            </a:r>
            <a:endParaRPr sz="1465" b="1">
              <a:solidFill>
                <a:srgbClr val="4472C4"/>
              </a:solidFill>
              <a:latin typeface="黑体" panose="02010609060101010101" charset="-122"/>
            </a:endParaRPr>
          </a:p>
        </p:txBody>
      </p:sp>
      <p:sp>
        <p:nvSpPr>
          <p:cNvPr id="13" name="TextBox 12"/>
          <p:cNvSpPr txBox="1"/>
          <p:nvPr/>
        </p:nvSpPr>
        <p:spPr>
          <a:xfrm>
            <a:off x="975360" y="4169664"/>
            <a:ext cx="3389376" cy="219456"/>
          </a:xfrm>
          <a:prstGeom prst="rect">
            <a:avLst/>
          </a:prstGeom>
          <a:noFill/>
        </p:spPr>
        <p:txBody>
          <a:bodyPr wrap="square" lIns="24384" tIns="12192" rIns="24384" bIns="12192" anchor="t"/>
          <a:lstStyle/>
          <a:p>
            <a:pPr algn="l">
              <a:spcAft>
                <a:spcPts val="0"/>
              </a:spcAft>
            </a:pPr>
            <a:r>
              <a:rPr sz="1425" b="1">
                <a:solidFill>
                  <a:srgbClr val="4472C4"/>
                </a:solidFill>
                <a:latin typeface="黑体" panose="02010609060101010101" charset="-122"/>
              </a:rPr>
              <a:t>资产即时交割</a:t>
            </a:r>
            <a:endParaRPr sz="1425" b="1">
              <a:solidFill>
                <a:srgbClr val="4472C4"/>
              </a:solidFill>
              <a:latin typeface="黑体" panose="02010609060101010101" charset="-122"/>
            </a:endParaRPr>
          </a:p>
        </p:txBody>
      </p:sp>
      <p:sp>
        <p:nvSpPr>
          <p:cNvPr id="14" name="TextBox 13"/>
          <p:cNvSpPr txBox="1"/>
          <p:nvPr/>
        </p:nvSpPr>
        <p:spPr>
          <a:xfrm>
            <a:off x="975360" y="4437888"/>
            <a:ext cx="3389376" cy="512064"/>
          </a:xfrm>
          <a:prstGeom prst="rect">
            <a:avLst/>
          </a:prstGeom>
          <a:noFill/>
        </p:spPr>
        <p:txBody>
          <a:bodyPr wrap="square" lIns="24384" tIns="12192" rIns="24384" bIns="12192" anchor="t"/>
          <a:lstStyle/>
          <a:p>
            <a:pPr algn="l">
              <a:spcAft>
                <a:spcPts val="0"/>
              </a:spcAft>
            </a:pPr>
            <a:r>
              <a:rPr sz="1175" b="0">
                <a:solidFill>
                  <a:srgbClr val="000000"/>
                </a:solidFill>
                <a:latin typeface="宋体" panose="02010600030101010101" pitchFamily="2" charset="-122"/>
              </a:rPr>
              <a:t>买入货币或金融产品即刻记入名下；</a:t>
            </a:r>
            <a:endParaRPr sz="1175" b="0">
              <a:solidFill>
                <a:srgbClr val="000000"/>
              </a:solidFill>
              <a:latin typeface="宋体" panose="02010600030101010101" pitchFamily="2" charset="-122"/>
            </a:endParaRPr>
          </a:p>
          <a:p>
            <a:pPr algn="l">
              <a:spcAft>
                <a:spcPts val="0"/>
              </a:spcAft>
            </a:pPr>
            <a:r>
              <a:rPr sz="1175" b="0">
                <a:solidFill>
                  <a:srgbClr val="000000"/>
                </a:solidFill>
                <a:latin typeface="宋体" panose="02010600030101010101" pitchFamily="2" charset="-122"/>
              </a:rPr>
              <a:t>当天即可再次卖出。</a:t>
            </a:r>
            <a:endParaRPr sz="1175" b="0">
              <a:solidFill>
                <a:srgbClr val="000000"/>
              </a:solidFill>
              <a:latin typeface="宋体" panose="02010600030101010101" pitchFamily="2" charset="-122"/>
            </a:endParaRPr>
          </a:p>
        </p:txBody>
      </p:sp>
      <p:sp>
        <p:nvSpPr>
          <p:cNvPr id="15" name="TextBox 14"/>
          <p:cNvSpPr txBox="1"/>
          <p:nvPr/>
        </p:nvSpPr>
        <p:spPr>
          <a:xfrm>
            <a:off x="670560" y="5145024"/>
            <a:ext cx="243840" cy="243840"/>
          </a:xfrm>
          <a:prstGeom prst="rect">
            <a:avLst/>
          </a:prstGeom>
          <a:noFill/>
        </p:spPr>
        <p:txBody>
          <a:bodyPr wrap="square" lIns="24384" tIns="12192" rIns="24384" bIns="12192" anchor="t"/>
          <a:lstStyle/>
          <a:p>
            <a:pPr algn="l">
              <a:spcAft>
                <a:spcPts val="0"/>
              </a:spcAft>
            </a:pPr>
            <a:r>
              <a:rPr sz="1465" b="1">
                <a:solidFill>
                  <a:srgbClr val="70AD47"/>
                </a:solidFill>
                <a:latin typeface="黑体" panose="02010609060101010101" charset="-122"/>
              </a:rPr>
              <a:t>➤</a:t>
            </a:r>
            <a:endParaRPr sz="1465" b="1">
              <a:solidFill>
                <a:srgbClr val="70AD47"/>
              </a:solidFill>
              <a:latin typeface="黑体" panose="02010609060101010101" charset="-122"/>
            </a:endParaRPr>
          </a:p>
        </p:txBody>
      </p:sp>
      <p:sp>
        <p:nvSpPr>
          <p:cNvPr id="16" name="TextBox 15"/>
          <p:cNvSpPr txBox="1"/>
          <p:nvPr/>
        </p:nvSpPr>
        <p:spPr>
          <a:xfrm>
            <a:off x="975360" y="5132832"/>
            <a:ext cx="3389376" cy="219456"/>
          </a:xfrm>
          <a:prstGeom prst="rect">
            <a:avLst/>
          </a:prstGeom>
          <a:noFill/>
        </p:spPr>
        <p:txBody>
          <a:bodyPr wrap="square" lIns="24384" tIns="12192" rIns="24384" bIns="12192" anchor="t"/>
          <a:lstStyle/>
          <a:p>
            <a:pPr algn="l">
              <a:spcAft>
                <a:spcPts val="0"/>
              </a:spcAft>
            </a:pPr>
            <a:r>
              <a:rPr sz="1425" b="1">
                <a:solidFill>
                  <a:srgbClr val="70AD47"/>
                </a:solidFill>
                <a:latin typeface="黑体" panose="02010609060101010101" charset="-122"/>
              </a:rPr>
              <a:t>技术支撑</a:t>
            </a:r>
            <a:endParaRPr sz="1425" b="1">
              <a:solidFill>
                <a:srgbClr val="70AD47"/>
              </a:solidFill>
              <a:latin typeface="黑体" panose="02010609060101010101" charset="-122"/>
            </a:endParaRPr>
          </a:p>
        </p:txBody>
      </p:sp>
      <p:sp>
        <p:nvSpPr>
          <p:cNvPr id="17" name="TextBox 16"/>
          <p:cNvSpPr txBox="1"/>
          <p:nvPr/>
        </p:nvSpPr>
        <p:spPr>
          <a:xfrm>
            <a:off x="975360" y="5401055"/>
            <a:ext cx="3389376" cy="512064"/>
          </a:xfrm>
          <a:prstGeom prst="rect">
            <a:avLst/>
          </a:prstGeom>
          <a:noFill/>
        </p:spPr>
        <p:txBody>
          <a:bodyPr wrap="square" lIns="24384" tIns="12192" rIns="24384" bIns="12192" anchor="t"/>
          <a:lstStyle/>
          <a:p>
            <a:pPr algn="l">
              <a:spcAft>
                <a:spcPts val="0"/>
              </a:spcAft>
            </a:pPr>
            <a:r>
              <a:rPr sz="1175" b="0">
                <a:solidFill>
                  <a:srgbClr val="000000"/>
                </a:solidFill>
                <a:latin typeface="宋体" panose="02010600030101010101" pitchFamily="2" charset="-122"/>
              </a:rPr>
              <a:t>依赖银行核心系统自动冲账；</a:t>
            </a:r>
            <a:endParaRPr sz="1175" b="0">
              <a:solidFill>
                <a:srgbClr val="000000"/>
              </a:solidFill>
              <a:latin typeface="宋体" panose="02010600030101010101" pitchFamily="2" charset="-122"/>
            </a:endParaRPr>
          </a:p>
          <a:p>
            <a:pPr algn="l">
              <a:spcAft>
                <a:spcPts val="0"/>
              </a:spcAft>
            </a:pPr>
            <a:r>
              <a:rPr sz="1175" b="0">
                <a:solidFill>
                  <a:srgbClr val="000000"/>
                </a:solidFill>
                <a:latin typeface="宋体" panose="02010600030101010101" pitchFamily="2" charset="-122"/>
              </a:rPr>
              <a:t>也是AI秒级平仓的制度前提。</a:t>
            </a:r>
            <a:endParaRPr sz="1175" b="0">
              <a:solidFill>
                <a:srgbClr val="000000"/>
              </a:solidFill>
              <a:latin typeface="宋体" panose="02010600030101010101" pitchFamily="2" charset="-122"/>
            </a:endParaRPr>
          </a:p>
        </p:txBody>
      </p:sp>
      <p:pic>
        <p:nvPicPr>
          <p:cNvPr id="18" name="Picture 17" descr="t0_compare.png"/>
          <p:cNvPicPr>
            <a:picLocks noChangeAspect="1"/>
          </p:cNvPicPr>
          <p:nvPr/>
        </p:nvPicPr>
        <p:blipFill>
          <a:blip r:embed="rId1"/>
          <a:stretch>
            <a:fillRect/>
          </a:stretch>
        </p:blipFill>
        <p:spPr>
          <a:xfrm>
            <a:off x="5547360" y="1365504"/>
            <a:ext cx="6035040" cy="4169664"/>
          </a:xfrm>
          <a:prstGeom prst="rect">
            <a:avLst/>
          </a:prstGeom>
        </p:spPr>
      </p:pic>
      <p:sp>
        <p:nvSpPr>
          <p:cNvPr id="19" name="Rounded Rectangle 18"/>
          <p:cNvSpPr/>
          <p:nvPr/>
        </p:nvSpPr>
        <p:spPr>
          <a:xfrm>
            <a:off x="670560" y="6096000"/>
            <a:ext cx="1066800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77824" y="6163056"/>
            <a:ext cx="10180320" cy="158496"/>
          </a:xfrm>
          <a:prstGeom prst="rect">
            <a:avLst/>
          </a:prstGeom>
          <a:noFill/>
        </p:spPr>
        <p:txBody>
          <a:bodyPr wrap="square" lIns="24384" tIns="12192" rIns="24384" bIns="12192" anchor="t"/>
          <a:lstStyle/>
          <a:p>
            <a:pPr algn="l">
              <a:spcAft>
                <a:spcPts val="0"/>
              </a:spcAft>
            </a:pPr>
            <a:r>
              <a:rPr sz="1225" b="0">
                <a:solidFill>
                  <a:srgbClr val="525252"/>
                </a:solidFill>
                <a:latin typeface="宋体" panose="02010600030101010101" pitchFamily="2" charset="-122"/>
              </a:rPr>
              <a:t>要点：T+0的核心不是“快”本身，而是资金、资产和系统记录在同一天闭环。</a:t>
            </a:r>
            <a:endParaRPr sz="1225" b="0">
              <a:solidFill>
                <a:srgbClr val="525252"/>
              </a:solidFill>
              <a:latin typeface="宋体" panose="02010600030101010101" pitchFamily="2" charset="-122"/>
            </a:endParaRPr>
          </a:p>
        </p:txBody>
      </p:sp>
      <p:sp>
        <p:nvSpPr>
          <p:cNvPr id="21" name="Parallelogram 20"/>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1"/>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41376" y="548640"/>
            <a:ext cx="10607039" cy="438912"/>
          </a:xfrm>
          <a:prstGeom prst="rect">
            <a:avLst/>
          </a:prstGeom>
          <a:noFill/>
        </p:spPr>
        <p:txBody>
          <a:bodyPr wrap="square" lIns="24384" tIns="12192" rIns="24384" bIns="12192" anchor="t"/>
          <a:lstStyle/>
          <a:p>
            <a:pPr algn="l">
              <a:spcAft>
                <a:spcPts val="0"/>
              </a:spcAft>
            </a:pPr>
            <a:r>
              <a:rPr sz="2600" b="1">
                <a:solidFill>
                  <a:srgbClr val="4472C4"/>
                </a:solidFill>
                <a:latin typeface="黑体" panose="02010609060101010101" charset="-122"/>
              </a:rPr>
              <a:t>外汇市场中的 T+0 实务与对比</a:t>
            </a:r>
            <a:endParaRPr sz="2600" b="1">
              <a:solidFill>
                <a:srgbClr val="4472C4"/>
              </a:solidFill>
              <a:latin typeface="黑体" panose="02010609060101010101" charset="-122"/>
            </a:endParaRPr>
          </a:p>
        </p:txBody>
      </p:sp>
      <p:sp>
        <p:nvSpPr>
          <p:cNvPr id="3" name="Rounded Rectangle 2"/>
          <p:cNvSpPr/>
          <p:nvPr/>
        </p:nvSpPr>
        <p:spPr>
          <a:xfrm>
            <a:off x="755904" y="1341120"/>
            <a:ext cx="2865120" cy="1365504"/>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50976" y="1487424"/>
            <a:ext cx="2474976" cy="268224"/>
          </a:xfrm>
          <a:prstGeom prst="rect">
            <a:avLst/>
          </a:prstGeom>
          <a:noFill/>
        </p:spPr>
        <p:txBody>
          <a:bodyPr wrap="square" lIns="24384" tIns="12192" rIns="24384" bIns="12192" anchor="t"/>
          <a:lstStyle/>
          <a:p>
            <a:pPr algn="ctr">
              <a:spcAft>
                <a:spcPts val="0"/>
              </a:spcAft>
            </a:pPr>
            <a:r>
              <a:rPr sz="1665" b="1">
                <a:solidFill>
                  <a:srgbClr val="4472C4"/>
                </a:solidFill>
                <a:latin typeface="黑体" panose="02010609060101010101" charset="-122"/>
              </a:rPr>
              <a:t>随买随卖</a:t>
            </a:r>
            <a:endParaRPr sz="1665" b="1">
              <a:solidFill>
                <a:srgbClr val="4472C4"/>
              </a:solidFill>
              <a:latin typeface="黑体" panose="02010609060101010101" charset="-122"/>
            </a:endParaRPr>
          </a:p>
        </p:txBody>
      </p:sp>
      <p:sp>
        <p:nvSpPr>
          <p:cNvPr id="5" name="TextBox 4"/>
          <p:cNvSpPr txBox="1"/>
          <p:nvPr/>
        </p:nvSpPr>
        <p:spPr>
          <a:xfrm>
            <a:off x="999744" y="1926336"/>
            <a:ext cx="2377440" cy="65836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外汇市场流动性强，T+0是常见清算模式；不存在“今日买、明日卖”的限制。</a:t>
            </a:r>
            <a:endParaRPr sz="1200" b="0">
              <a:solidFill>
                <a:srgbClr val="000000"/>
              </a:solidFill>
              <a:latin typeface="宋体" panose="02010600030101010101" pitchFamily="2" charset="-122"/>
            </a:endParaRPr>
          </a:p>
        </p:txBody>
      </p:sp>
      <p:sp>
        <p:nvSpPr>
          <p:cNvPr id="6" name="Rounded Rectangle 5"/>
          <p:cNvSpPr/>
          <p:nvPr/>
        </p:nvSpPr>
        <p:spPr>
          <a:xfrm>
            <a:off x="3877056" y="1341120"/>
            <a:ext cx="2865120" cy="1365504"/>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4072128" y="1487424"/>
            <a:ext cx="2474976" cy="268224"/>
          </a:xfrm>
          <a:prstGeom prst="rect">
            <a:avLst/>
          </a:prstGeom>
          <a:noFill/>
        </p:spPr>
        <p:txBody>
          <a:bodyPr wrap="square" lIns="24384" tIns="12192" rIns="24384" bIns="12192" anchor="t"/>
          <a:lstStyle/>
          <a:p>
            <a:pPr algn="ctr">
              <a:spcAft>
                <a:spcPts val="0"/>
              </a:spcAft>
            </a:pPr>
            <a:r>
              <a:rPr sz="1665" b="1">
                <a:solidFill>
                  <a:srgbClr val="70AD47"/>
                </a:solidFill>
                <a:latin typeface="黑体" panose="02010609060101010101" charset="-122"/>
              </a:rPr>
              <a:t>日内多次交易</a:t>
            </a:r>
            <a:endParaRPr sz="1665" b="1">
              <a:solidFill>
                <a:srgbClr val="70AD47"/>
              </a:solidFill>
              <a:latin typeface="黑体" panose="02010609060101010101" charset="-122"/>
            </a:endParaRPr>
          </a:p>
        </p:txBody>
      </p:sp>
      <p:sp>
        <p:nvSpPr>
          <p:cNvPr id="8" name="TextBox 7"/>
          <p:cNvSpPr txBox="1"/>
          <p:nvPr/>
        </p:nvSpPr>
        <p:spPr>
          <a:xfrm>
            <a:off x="4120896" y="1926336"/>
            <a:ext cx="2377440" cy="65836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同一笔本金可在一天内多次买卖，资金利用率提高，但交易频率也会上升。</a:t>
            </a:r>
            <a:endParaRPr sz="1200" b="0">
              <a:solidFill>
                <a:srgbClr val="000000"/>
              </a:solidFill>
              <a:latin typeface="宋体" panose="02010600030101010101" pitchFamily="2" charset="-122"/>
            </a:endParaRPr>
          </a:p>
        </p:txBody>
      </p:sp>
      <p:sp>
        <p:nvSpPr>
          <p:cNvPr id="9" name="Rounded Rectangle 8"/>
          <p:cNvSpPr/>
          <p:nvPr/>
        </p:nvSpPr>
        <p:spPr>
          <a:xfrm>
            <a:off x="6998208" y="1341120"/>
            <a:ext cx="2865120" cy="1365504"/>
          </a:xfrm>
          <a:prstGeom prst="roundRect">
            <a:avLst/>
          </a:prstGeom>
          <a:solidFill>
            <a:srgbClr val="FFF7EE"/>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7193280" y="1487424"/>
            <a:ext cx="2474976" cy="268224"/>
          </a:xfrm>
          <a:prstGeom prst="rect">
            <a:avLst/>
          </a:prstGeom>
          <a:noFill/>
        </p:spPr>
        <p:txBody>
          <a:bodyPr wrap="square" lIns="24384" tIns="12192" rIns="24384" bIns="12192" anchor="t"/>
          <a:lstStyle/>
          <a:p>
            <a:pPr algn="ctr">
              <a:spcAft>
                <a:spcPts val="0"/>
              </a:spcAft>
            </a:pPr>
            <a:r>
              <a:rPr sz="1665" b="1">
                <a:solidFill>
                  <a:srgbClr val="ED7D31"/>
                </a:solidFill>
                <a:latin typeface="黑体" panose="02010609060101010101" charset="-122"/>
              </a:rPr>
              <a:t>极端行情避险</a:t>
            </a:r>
            <a:endParaRPr sz="1665" b="1">
              <a:solidFill>
                <a:srgbClr val="ED7D31"/>
              </a:solidFill>
              <a:latin typeface="黑体" panose="02010609060101010101" charset="-122"/>
            </a:endParaRPr>
          </a:p>
        </p:txBody>
      </p:sp>
      <p:sp>
        <p:nvSpPr>
          <p:cNvPr id="11" name="TextBox 10"/>
          <p:cNvSpPr txBox="1"/>
          <p:nvPr/>
        </p:nvSpPr>
        <p:spPr>
          <a:xfrm>
            <a:off x="7242048" y="1926336"/>
            <a:ext cx="2377440" cy="65836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遭遇黑天鹅事件时可即时平仓止损，减少隔夜被动持仓风险。</a:t>
            </a:r>
            <a:endParaRPr sz="1200" b="0">
              <a:solidFill>
                <a:srgbClr val="000000"/>
              </a:solidFill>
              <a:latin typeface="宋体" panose="02010600030101010101" pitchFamily="2" charset="-122"/>
            </a:endParaRPr>
          </a:p>
        </p:txBody>
      </p:sp>
      <p:sp>
        <p:nvSpPr>
          <p:cNvPr id="12" name="Rounded Rectangle 11"/>
          <p:cNvSpPr/>
          <p:nvPr/>
        </p:nvSpPr>
        <p:spPr>
          <a:xfrm>
            <a:off x="755904" y="3267456"/>
            <a:ext cx="2438400" cy="1487424"/>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950976" y="3413760"/>
            <a:ext cx="2048256" cy="268224"/>
          </a:xfrm>
          <a:prstGeom prst="rect">
            <a:avLst/>
          </a:prstGeom>
          <a:noFill/>
        </p:spPr>
        <p:txBody>
          <a:bodyPr wrap="square" lIns="24384" tIns="12192" rIns="24384" bIns="12192" anchor="t"/>
          <a:lstStyle/>
          <a:p>
            <a:pPr algn="ctr">
              <a:spcAft>
                <a:spcPts val="0"/>
              </a:spcAft>
            </a:pPr>
            <a:r>
              <a:rPr sz="1665" b="1">
                <a:solidFill>
                  <a:srgbClr val="4472C4"/>
                </a:solidFill>
                <a:latin typeface="黑体" panose="02010609060101010101" charset="-122"/>
              </a:rPr>
              <a:t>10:00</a:t>
            </a:r>
            <a:endParaRPr sz="1665" b="1">
              <a:solidFill>
                <a:srgbClr val="4472C4"/>
              </a:solidFill>
              <a:latin typeface="黑体" panose="02010609060101010101" charset="-122"/>
            </a:endParaRPr>
          </a:p>
        </p:txBody>
      </p:sp>
      <p:sp>
        <p:nvSpPr>
          <p:cNvPr id="14" name="TextBox 13"/>
          <p:cNvSpPr txBox="1"/>
          <p:nvPr/>
        </p:nvSpPr>
        <p:spPr>
          <a:xfrm>
            <a:off x="999744" y="3852672"/>
            <a:ext cx="1950720" cy="78028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买入欧元</a:t>
            </a:r>
            <a:endParaRPr sz="1200" b="0">
              <a:solidFill>
                <a:srgbClr val="000000"/>
              </a:solidFill>
              <a:latin typeface="宋体" panose="02010600030101010101" pitchFamily="2" charset="-122"/>
            </a:endParaRPr>
          </a:p>
          <a:p>
            <a:pPr algn="ctr">
              <a:spcAft>
                <a:spcPts val="0"/>
              </a:spcAft>
            </a:pPr>
            <a:r>
              <a:rPr sz="1200" b="0">
                <a:solidFill>
                  <a:srgbClr val="000000"/>
                </a:solidFill>
                <a:latin typeface="宋体" panose="02010600030101010101" pitchFamily="2" charset="-122"/>
              </a:rPr>
              <a:t>账户扣减美元</a:t>
            </a:r>
            <a:endParaRPr sz="1200" b="0">
              <a:solidFill>
                <a:srgbClr val="000000"/>
              </a:solidFill>
              <a:latin typeface="宋体" panose="02010600030101010101" pitchFamily="2" charset="-122"/>
            </a:endParaRPr>
          </a:p>
          <a:p>
            <a:pPr algn="ctr">
              <a:spcAft>
                <a:spcPts val="0"/>
              </a:spcAft>
            </a:pPr>
            <a:r>
              <a:rPr sz="1200" b="0">
                <a:solidFill>
                  <a:srgbClr val="000000"/>
                </a:solidFill>
                <a:latin typeface="宋体" panose="02010600030101010101" pitchFamily="2" charset="-122"/>
              </a:rPr>
              <a:t>增加欧元头寸</a:t>
            </a:r>
            <a:endParaRPr sz="1200" b="0">
              <a:solidFill>
                <a:srgbClr val="000000"/>
              </a:solidFill>
              <a:latin typeface="宋体" panose="02010600030101010101" pitchFamily="2" charset="-122"/>
            </a:endParaRPr>
          </a:p>
        </p:txBody>
      </p:sp>
      <p:sp>
        <p:nvSpPr>
          <p:cNvPr id="15" name="Rounded Rectangle 14"/>
          <p:cNvSpPr/>
          <p:nvPr/>
        </p:nvSpPr>
        <p:spPr>
          <a:xfrm>
            <a:off x="3511296" y="3267456"/>
            <a:ext cx="2438400" cy="1487424"/>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3706368" y="3413760"/>
            <a:ext cx="2048256" cy="268224"/>
          </a:xfrm>
          <a:prstGeom prst="rect">
            <a:avLst/>
          </a:prstGeom>
          <a:noFill/>
        </p:spPr>
        <p:txBody>
          <a:bodyPr wrap="square" lIns="24384" tIns="12192" rIns="24384" bIns="12192" anchor="t"/>
          <a:lstStyle/>
          <a:p>
            <a:pPr algn="ctr">
              <a:spcAft>
                <a:spcPts val="0"/>
              </a:spcAft>
            </a:pPr>
            <a:r>
              <a:rPr sz="1665" b="1">
                <a:solidFill>
                  <a:srgbClr val="70AD47"/>
                </a:solidFill>
                <a:latin typeface="黑体" panose="02010609060101010101" charset="-122"/>
              </a:rPr>
              <a:t>10:15</a:t>
            </a:r>
            <a:endParaRPr sz="1665" b="1">
              <a:solidFill>
                <a:srgbClr val="70AD47"/>
              </a:solidFill>
              <a:latin typeface="黑体" panose="02010609060101010101" charset="-122"/>
            </a:endParaRPr>
          </a:p>
        </p:txBody>
      </p:sp>
      <p:sp>
        <p:nvSpPr>
          <p:cNvPr id="17" name="TextBox 16"/>
          <p:cNvSpPr txBox="1"/>
          <p:nvPr/>
        </p:nvSpPr>
        <p:spPr>
          <a:xfrm>
            <a:off x="3755136" y="3852672"/>
            <a:ext cx="1950720" cy="78028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欧元上涨后卖出</a:t>
            </a:r>
            <a:endParaRPr sz="1200" b="0">
              <a:solidFill>
                <a:srgbClr val="000000"/>
              </a:solidFill>
              <a:latin typeface="宋体" panose="02010600030101010101" pitchFamily="2" charset="-122"/>
            </a:endParaRPr>
          </a:p>
          <a:p>
            <a:pPr algn="ctr">
              <a:spcAft>
                <a:spcPts val="0"/>
              </a:spcAft>
            </a:pPr>
            <a:r>
              <a:rPr sz="1200" b="0">
                <a:solidFill>
                  <a:srgbClr val="000000"/>
                </a:solidFill>
                <a:latin typeface="宋体" panose="02010600030101010101" pitchFamily="2" charset="-122"/>
              </a:rPr>
              <a:t>资金回笼</a:t>
            </a:r>
            <a:endParaRPr sz="1200" b="0">
              <a:solidFill>
                <a:srgbClr val="000000"/>
              </a:solidFill>
              <a:latin typeface="宋体" panose="02010600030101010101" pitchFamily="2" charset="-122"/>
            </a:endParaRPr>
          </a:p>
          <a:p>
            <a:pPr algn="ctr">
              <a:spcAft>
                <a:spcPts val="0"/>
              </a:spcAft>
            </a:pPr>
            <a:r>
              <a:rPr sz="1200" b="0">
                <a:solidFill>
                  <a:srgbClr val="000000"/>
                </a:solidFill>
                <a:latin typeface="宋体" panose="02010600030101010101" pitchFamily="2" charset="-122"/>
              </a:rPr>
              <a:t>余额实时更新</a:t>
            </a:r>
            <a:endParaRPr sz="1200" b="0">
              <a:solidFill>
                <a:srgbClr val="000000"/>
              </a:solidFill>
              <a:latin typeface="宋体" panose="02010600030101010101" pitchFamily="2" charset="-122"/>
            </a:endParaRPr>
          </a:p>
        </p:txBody>
      </p:sp>
      <p:sp>
        <p:nvSpPr>
          <p:cNvPr id="18" name="Rounded Rectangle 17"/>
          <p:cNvSpPr/>
          <p:nvPr/>
        </p:nvSpPr>
        <p:spPr>
          <a:xfrm>
            <a:off x="6266688" y="3267456"/>
            <a:ext cx="2438400" cy="1487424"/>
          </a:xfrm>
          <a:prstGeom prst="roundRect">
            <a:avLst/>
          </a:prstGeom>
          <a:solidFill>
            <a:srgbClr val="FFF7EE"/>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6461760" y="3413760"/>
            <a:ext cx="2048256" cy="268224"/>
          </a:xfrm>
          <a:prstGeom prst="rect">
            <a:avLst/>
          </a:prstGeom>
          <a:noFill/>
        </p:spPr>
        <p:txBody>
          <a:bodyPr wrap="square" lIns="24384" tIns="12192" rIns="24384" bIns="12192" anchor="t"/>
          <a:lstStyle/>
          <a:p>
            <a:pPr algn="ctr">
              <a:spcAft>
                <a:spcPts val="0"/>
              </a:spcAft>
            </a:pPr>
            <a:r>
              <a:rPr sz="1665" b="1">
                <a:solidFill>
                  <a:srgbClr val="ED7D31"/>
                </a:solidFill>
                <a:latin typeface="黑体" panose="02010609060101010101" charset="-122"/>
              </a:rPr>
              <a:t>10:16</a:t>
            </a:r>
            <a:endParaRPr sz="1665" b="1">
              <a:solidFill>
                <a:srgbClr val="ED7D31"/>
              </a:solidFill>
              <a:latin typeface="黑体" panose="02010609060101010101" charset="-122"/>
            </a:endParaRPr>
          </a:p>
        </p:txBody>
      </p:sp>
      <p:sp>
        <p:nvSpPr>
          <p:cNvPr id="20" name="TextBox 19"/>
          <p:cNvSpPr txBox="1"/>
          <p:nvPr/>
        </p:nvSpPr>
        <p:spPr>
          <a:xfrm>
            <a:off x="6510528" y="3852672"/>
            <a:ext cx="1950720" cy="78028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立即买入英镑</a:t>
            </a:r>
            <a:endParaRPr sz="1200" b="0">
              <a:solidFill>
                <a:srgbClr val="000000"/>
              </a:solidFill>
              <a:latin typeface="宋体" panose="02010600030101010101" pitchFamily="2" charset="-122"/>
            </a:endParaRPr>
          </a:p>
          <a:p>
            <a:pPr algn="ctr">
              <a:spcAft>
                <a:spcPts val="0"/>
              </a:spcAft>
            </a:pPr>
            <a:r>
              <a:rPr sz="1200" b="0">
                <a:solidFill>
                  <a:srgbClr val="000000"/>
                </a:solidFill>
                <a:latin typeface="宋体" panose="02010600030101010101" pitchFamily="2" charset="-122"/>
              </a:rPr>
              <a:t>同一本金继续周转</a:t>
            </a:r>
            <a:endParaRPr sz="1200" b="0">
              <a:solidFill>
                <a:srgbClr val="000000"/>
              </a:solidFill>
              <a:latin typeface="宋体" panose="02010600030101010101" pitchFamily="2" charset="-122"/>
            </a:endParaRPr>
          </a:p>
        </p:txBody>
      </p:sp>
      <p:sp>
        <p:nvSpPr>
          <p:cNvPr id="21" name="Rounded Rectangle 20"/>
          <p:cNvSpPr/>
          <p:nvPr/>
        </p:nvSpPr>
        <p:spPr>
          <a:xfrm>
            <a:off x="9022080" y="3267456"/>
            <a:ext cx="2316480" cy="1487424"/>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9217152" y="3413760"/>
            <a:ext cx="1926335" cy="268224"/>
          </a:xfrm>
          <a:prstGeom prst="rect">
            <a:avLst/>
          </a:prstGeom>
          <a:noFill/>
        </p:spPr>
        <p:txBody>
          <a:bodyPr wrap="square" lIns="24384" tIns="12192" rIns="24384" bIns="12192" anchor="t"/>
          <a:lstStyle/>
          <a:p>
            <a:pPr algn="ctr">
              <a:spcAft>
                <a:spcPts val="0"/>
              </a:spcAft>
            </a:pPr>
            <a:r>
              <a:rPr sz="1665" b="1">
                <a:solidFill>
                  <a:srgbClr val="4472C4"/>
                </a:solidFill>
                <a:latin typeface="黑体" panose="02010609060101010101" charset="-122"/>
              </a:rPr>
              <a:t>清算路径</a:t>
            </a:r>
            <a:endParaRPr sz="1665" b="1">
              <a:solidFill>
                <a:srgbClr val="4472C4"/>
              </a:solidFill>
              <a:latin typeface="黑体" panose="02010609060101010101" charset="-122"/>
            </a:endParaRPr>
          </a:p>
        </p:txBody>
      </p:sp>
      <p:sp>
        <p:nvSpPr>
          <p:cNvPr id="23" name="TextBox 22"/>
          <p:cNvSpPr txBox="1"/>
          <p:nvPr/>
        </p:nvSpPr>
        <p:spPr>
          <a:xfrm>
            <a:off x="9265920" y="3852672"/>
            <a:ext cx="1828800" cy="780288"/>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成交后系统实时扣减A货币、增加B货币。</a:t>
            </a:r>
            <a:endParaRPr sz="1200" b="0">
              <a:solidFill>
                <a:srgbClr val="000000"/>
              </a:solidFill>
              <a:latin typeface="宋体" panose="02010600030101010101" pitchFamily="2" charset="-122"/>
            </a:endParaRPr>
          </a:p>
        </p:txBody>
      </p:sp>
      <p:sp>
        <p:nvSpPr>
          <p:cNvPr id="24" name="Rounded Rectangle 23"/>
          <p:cNvSpPr/>
          <p:nvPr/>
        </p:nvSpPr>
        <p:spPr>
          <a:xfrm>
            <a:off x="755904" y="5145024"/>
            <a:ext cx="10607039" cy="670560"/>
          </a:xfrm>
          <a:prstGeom prst="roundRect">
            <a:avLst/>
          </a:prstGeom>
          <a:solidFill>
            <a:srgbClr val="FFF7EE"/>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999744" y="5315712"/>
            <a:ext cx="10119360" cy="243840"/>
          </a:xfrm>
          <a:prstGeom prst="rect">
            <a:avLst/>
          </a:prstGeom>
          <a:noFill/>
        </p:spPr>
        <p:txBody>
          <a:bodyPr wrap="square" lIns="24384" tIns="12192" rIns="24384" bIns="12192" anchor="t"/>
          <a:lstStyle/>
          <a:p>
            <a:pPr algn="ctr">
              <a:spcAft>
                <a:spcPts val="0"/>
              </a:spcAft>
            </a:pPr>
            <a:r>
              <a:rPr sz="1400" b="0">
                <a:solidFill>
                  <a:srgbClr val="525252"/>
                </a:solidFill>
                <a:latin typeface="宋体" panose="02010600030101010101" pitchFamily="2" charset="-122"/>
              </a:rPr>
              <a:t>对比A股T+1：T+0降低持仓等待，但也可能诱发更频繁的短线操作。</a:t>
            </a:r>
            <a:endParaRPr sz="1400" b="0">
              <a:solidFill>
                <a:srgbClr val="525252"/>
              </a:solidFill>
              <a:latin typeface="宋体" panose="02010600030101010101" pitchFamily="2" charset="-122"/>
            </a:endParaRPr>
          </a:p>
        </p:txBody>
      </p:sp>
      <p:sp>
        <p:nvSpPr>
          <p:cNvPr id="26" name="Rounded Rectangle 25"/>
          <p:cNvSpPr/>
          <p:nvPr/>
        </p:nvSpPr>
        <p:spPr>
          <a:xfrm>
            <a:off x="670560" y="6096000"/>
            <a:ext cx="1066800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877824" y="6163056"/>
            <a:ext cx="10180320" cy="158496"/>
          </a:xfrm>
          <a:prstGeom prst="rect">
            <a:avLst/>
          </a:prstGeom>
          <a:noFill/>
        </p:spPr>
        <p:txBody>
          <a:bodyPr wrap="square" lIns="24384" tIns="12192" rIns="24384" bIns="12192" anchor="t"/>
          <a:lstStyle/>
          <a:p>
            <a:pPr algn="l">
              <a:spcAft>
                <a:spcPts val="0"/>
              </a:spcAft>
            </a:pPr>
            <a:r>
              <a:rPr sz="1225" b="0">
                <a:solidFill>
                  <a:srgbClr val="525252"/>
                </a:solidFill>
                <a:latin typeface="宋体" panose="02010600030101010101" pitchFamily="2" charset="-122"/>
              </a:rPr>
              <a:t>要点：外汇T+0让交易从“等待交割”变成“连续周转”，但交易纪律更重要。</a:t>
            </a:r>
            <a:endParaRPr sz="1225" b="0">
              <a:solidFill>
                <a:srgbClr val="525252"/>
              </a:solidFill>
              <a:latin typeface="宋体" panose="02010600030101010101" pitchFamily="2" charset="-122"/>
            </a:endParaRPr>
          </a:p>
        </p:txBody>
      </p:sp>
      <p:sp>
        <p:nvSpPr>
          <p:cNvPr id="28" name="Parallelogram 27"/>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Rectangle 28"/>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41376" y="548640"/>
            <a:ext cx="10607039" cy="438912"/>
          </a:xfrm>
          <a:prstGeom prst="rect">
            <a:avLst/>
          </a:prstGeom>
          <a:noFill/>
        </p:spPr>
        <p:txBody>
          <a:bodyPr wrap="square" lIns="24384" tIns="12192" rIns="24384" bIns="12192" anchor="t"/>
          <a:lstStyle/>
          <a:p>
            <a:pPr algn="l">
              <a:spcAft>
                <a:spcPts val="0"/>
              </a:spcAft>
            </a:pPr>
            <a:r>
              <a:rPr sz="2600" b="1">
                <a:solidFill>
                  <a:srgbClr val="4472C4"/>
                </a:solidFill>
                <a:latin typeface="黑体" panose="02010609060101010101" charset="-122"/>
              </a:rPr>
              <a:t>AI 时代与区域战略下的 T+0 进阶逻辑</a:t>
            </a:r>
            <a:endParaRPr sz="2600" b="1">
              <a:solidFill>
                <a:srgbClr val="4472C4"/>
              </a:solidFill>
              <a:latin typeface="黑体" panose="02010609060101010101" charset="-122"/>
            </a:endParaRPr>
          </a:p>
        </p:txBody>
      </p:sp>
      <p:sp>
        <p:nvSpPr>
          <p:cNvPr id="3" name="Rounded Rectangle 2"/>
          <p:cNvSpPr/>
          <p:nvPr/>
        </p:nvSpPr>
        <p:spPr>
          <a:xfrm>
            <a:off x="755904" y="1316736"/>
            <a:ext cx="3230880" cy="1402080"/>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950976" y="1463040"/>
            <a:ext cx="2840736" cy="268224"/>
          </a:xfrm>
          <a:prstGeom prst="rect">
            <a:avLst/>
          </a:prstGeom>
          <a:noFill/>
        </p:spPr>
        <p:txBody>
          <a:bodyPr wrap="square" lIns="24384" tIns="12192" rIns="24384" bIns="12192" anchor="t"/>
          <a:lstStyle/>
          <a:p>
            <a:pPr algn="ctr">
              <a:spcAft>
                <a:spcPts val="0"/>
              </a:spcAft>
            </a:pPr>
            <a:r>
              <a:rPr sz="1665" b="1">
                <a:solidFill>
                  <a:srgbClr val="4472C4"/>
                </a:solidFill>
                <a:latin typeface="黑体" panose="02010609060101010101" charset="-122"/>
              </a:rPr>
              <a:t>AI算法利用</a:t>
            </a:r>
            <a:endParaRPr sz="1665" b="1">
              <a:solidFill>
                <a:srgbClr val="4472C4"/>
              </a:solidFill>
              <a:latin typeface="黑体" panose="02010609060101010101" charset="-122"/>
            </a:endParaRPr>
          </a:p>
        </p:txBody>
      </p:sp>
      <p:sp>
        <p:nvSpPr>
          <p:cNvPr id="5" name="TextBox 4"/>
          <p:cNvSpPr txBox="1"/>
          <p:nvPr/>
        </p:nvSpPr>
        <p:spPr>
          <a:xfrm>
            <a:off x="999744" y="1901952"/>
            <a:ext cx="2743200" cy="694943"/>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LSTM等模型识别微小价格偏移，借助T+0实现秒级买卖和平仓。</a:t>
            </a:r>
            <a:endParaRPr sz="1200" b="0">
              <a:solidFill>
                <a:srgbClr val="000000"/>
              </a:solidFill>
              <a:latin typeface="宋体" panose="02010600030101010101" pitchFamily="2" charset="-122"/>
            </a:endParaRPr>
          </a:p>
        </p:txBody>
      </p:sp>
      <p:sp>
        <p:nvSpPr>
          <p:cNvPr id="6" name="Rounded Rectangle 5"/>
          <p:cNvSpPr/>
          <p:nvPr/>
        </p:nvSpPr>
        <p:spPr>
          <a:xfrm>
            <a:off x="4486656" y="1316736"/>
            <a:ext cx="3230880" cy="1402080"/>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4681728" y="1463040"/>
            <a:ext cx="2840736" cy="268224"/>
          </a:xfrm>
          <a:prstGeom prst="rect">
            <a:avLst/>
          </a:prstGeom>
          <a:noFill/>
        </p:spPr>
        <p:txBody>
          <a:bodyPr wrap="square" lIns="24384" tIns="12192" rIns="24384" bIns="12192" anchor="t"/>
          <a:lstStyle/>
          <a:p>
            <a:pPr algn="ctr">
              <a:spcAft>
                <a:spcPts val="0"/>
              </a:spcAft>
            </a:pPr>
            <a:r>
              <a:rPr sz="1665" b="1">
                <a:solidFill>
                  <a:srgbClr val="70AD47"/>
                </a:solidFill>
                <a:latin typeface="黑体" panose="02010609060101010101" charset="-122"/>
              </a:rPr>
              <a:t>动态风控</a:t>
            </a:r>
            <a:endParaRPr sz="1665" b="1">
              <a:solidFill>
                <a:srgbClr val="70AD47"/>
              </a:solidFill>
              <a:latin typeface="黑体" panose="02010609060101010101" charset="-122"/>
            </a:endParaRPr>
          </a:p>
        </p:txBody>
      </p:sp>
      <p:sp>
        <p:nvSpPr>
          <p:cNvPr id="8" name="TextBox 7"/>
          <p:cNvSpPr txBox="1"/>
          <p:nvPr/>
        </p:nvSpPr>
        <p:spPr>
          <a:xfrm>
            <a:off x="4730496" y="1901952"/>
            <a:ext cx="2743200" cy="694943"/>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AI持续监测市场环境，快速调整仓位，进行实时对冲。</a:t>
            </a:r>
            <a:endParaRPr sz="1200" b="0">
              <a:solidFill>
                <a:srgbClr val="000000"/>
              </a:solidFill>
              <a:latin typeface="宋体" panose="02010600030101010101" pitchFamily="2" charset="-122"/>
            </a:endParaRPr>
          </a:p>
        </p:txBody>
      </p:sp>
      <p:sp>
        <p:nvSpPr>
          <p:cNvPr id="9" name="Rounded Rectangle 8"/>
          <p:cNvSpPr/>
          <p:nvPr/>
        </p:nvSpPr>
        <p:spPr>
          <a:xfrm>
            <a:off x="8217408" y="1316736"/>
            <a:ext cx="2865120" cy="1402080"/>
          </a:xfrm>
          <a:prstGeom prst="roundRect">
            <a:avLst/>
          </a:prstGeom>
          <a:solidFill>
            <a:srgbClr val="FFF6F6"/>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8412480" y="1463040"/>
            <a:ext cx="2474976" cy="268224"/>
          </a:xfrm>
          <a:prstGeom prst="rect">
            <a:avLst/>
          </a:prstGeom>
          <a:noFill/>
        </p:spPr>
        <p:txBody>
          <a:bodyPr wrap="square" lIns="24384" tIns="12192" rIns="24384" bIns="12192" anchor="t"/>
          <a:lstStyle/>
          <a:p>
            <a:pPr algn="ctr">
              <a:spcAft>
                <a:spcPts val="0"/>
              </a:spcAft>
            </a:pPr>
            <a:r>
              <a:rPr sz="1665" b="1">
                <a:solidFill>
                  <a:srgbClr val="C00000"/>
                </a:solidFill>
                <a:latin typeface="黑体" panose="02010609060101010101" charset="-122"/>
              </a:rPr>
              <a:t>风险提示</a:t>
            </a:r>
            <a:endParaRPr sz="1665" b="1">
              <a:solidFill>
                <a:srgbClr val="C00000"/>
              </a:solidFill>
              <a:latin typeface="黑体" panose="02010609060101010101" charset="-122"/>
            </a:endParaRPr>
          </a:p>
        </p:txBody>
      </p:sp>
      <p:sp>
        <p:nvSpPr>
          <p:cNvPr id="11" name="TextBox 10"/>
          <p:cNvSpPr txBox="1"/>
          <p:nvPr/>
        </p:nvSpPr>
        <p:spPr>
          <a:xfrm>
            <a:off x="8461248" y="1901952"/>
            <a:ext cx="2377440" cy="694943"/>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T+0容易诱发过度交易，点差成本和情绪冲动会被放大。</a:t>
            </a:r>
            <a:endParaRPr sz="1200" b="0">
              <a:solidFill>
                <a:srgbClr val="000000"/>
              </a:solidFill>
              <a:latin typeface="宋体" panose="02010600030101010101" pitchFamily="2" charset="-122"/>
            </a:endParaRPr>
          </a:p>
        </p:txBody>
      </p:sp>
      <p:sp>
        <p:nvSpPr>
          <p:cNvPr id="12" name="Rounded Rectangle 11"/>
          <p:cNvSpPr/>
          <p:nvPr/>
        </p:nvSpPr>
        <p:spPr>
          <a:xfrm>
            <a:off x="755904" y="3316224"/>
            <a:ext cx="3230880" cy="1402080"/>
          </a:xfrm>
          <a:prstGeom prst="roundRect">
            <a:avLst/>
          </a:prstGeom>
          <a:solidFill>
            <a:srgbClr val="FFF7EE"/>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950976" y="3462528"/>
            <a:ext cx="2840736" cy="268224"/>
          </a:xfrm>
          <a:prstGeom prst="rect">
            <a:avLst/>
          </a:prstGeom>
          <a:noFill/>
        </p:spPr>
        <p:txBody>
          <a:bodyPr wrap="square" lIns="24384" tIns="12192" rIns="24384" bIns="12192" anchor="t"/>
          <a:lstStyle/>
          <a:p>
            <a:pPr algn="ctr">
              <a:spcAft>
                <a:spcPts val="0"/>
              </a:spcAft>
            </a:pPr>
            <a:r>
              <a:rPr sz="1665" b="1">
                <a:solidFill>
                  <a:srgbClr val="ED7D31"/>
                </a:solidFill>
                <a:latin typeface="黑体" panose="02010609060101010101" charset="-122"/>
              </a:rPr>
              <a:t>陆海新通道效率</a:t>
            </a:r>
            <a:endParaRPr sz="1665" b="1">
              <a:solidFill>
                <a:srgbClr val="ED7D31"/>
              </a:solidFill>
              <a:latin typeface="黑体" panose="02010609060101010101" charset="-122"/>
            </a:endParaRPr>
          </a:p>
        </p:txBody>
      </p:sp>
      <p:sp>
        <p:nvSpPr>
          <p:cNvPr id="14" name="TextBox 13"/>
          <p:cNvSpPr txBox="1"/>
          <p:nvPr/>
        </p:nvSpPr>
        <p:spPr>
          <a:xfrm>
            <a:off x="999744" y="3901440"/>
            <a:ext cx="2743200" cy="694943"/>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跨境贸易结算中，T+0缩短资金占压时间，提升周转效率。</a:t>
            </a:r>
            <a:endParaRPr sz="1200" b="0">
              <a:solidFill>
                <a:srgbClr val="000000"/>
              </a:solidFill>
              <a:latin typeface="宋体" panose="02010600030101010101" pitchFamily="2" charset="-122"/>
            </a:endParaRPr>
          </a:p>
        </p:txBody>
      </p:sp>
      <p:sp>
        <p:nvSpPr>
          <p:cNvPr id="15" name="Rounded Rectangle 14"/>
          <p:cNvSpPr/>
          <p:nvPr/>
        </p:nvSpPr>
        <p:spPr>
          <a:xfrm>
            <a:off x="4486656" y="3316224"/>
            <a:ext cx="3230880" cy="1402080"/>
          </a:xfrm>
          <a:prstGeom prst="roundRect">
            <a:avLst/>
          </a:prstGeom>
          <a:solidFill>
            <a:srgbClr val="F2F7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4681728" y="3462528"/>
            <a:ext cx="2840736" cy="268224"/>
          </a:xfrm>
          <a:prstGeom prst="rect">
            <a:avLst/>
          </a:prstGeom>
          <a:noFill/>
        </p:spPr>
        <p:txBody>
          <a:bodyPr wrap="square" lIns="24384" tIns="12192" rIns="24384" bIns="12192" anchor="t"/>
          <a:lstStyle/>
          <a:p>
            <a:pPr algn="ctr">
              <a:spcAft>
                <a:spcPts val="0"/>
              </a:spcAft>
            </a:pPr>
            <a:r>
              <a:rPr sz="1665" b="1">
                <a:solidFill>
                  <a:srgbClr val="4472C4"/>
                </a:solidFill>
                <a:latin typeface="黑体" panose="02010609060101010101" charset="-122"/>
              </a:rPr>
              <a:t>重庆内陆开放高地</a:t>
            </a:r>
            <a:endParaRPr sz="1665" b="1">
              <a:solidFill>
                <a:srgbClr val="4472C4"/>
              </a:solidFill>
              <a:latin typeface="黑体" panose="02010609060101010101" charset="-122"/>
            </a:endParaRPr>
          </a:p>
        </p:txBody>
      </p:sp>
      <p:sp>
        <p:nvSpPr>
          <p:cNvPr id="17" name="TextBox 16"/>
          <p:cNvSpPr txBox="1"/>
          <p:nvPr/>
        </p:nvSpPr>
        <p:spPr>
          <a:xfrm>
            <a:off x="4730496" y="3901440"/>
            <a:ext cx="2743200" cy="694943"/>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即时清算提高金融服务响应速度，支撑内陆开放型经济运行。</a:t>
            </a:r>
            <a:endParaRPr sz="1200" b="0">
              <a:solidFill>
                <a:srgbClr val="000000"/>
              </a:solidFill>
              <a:latin typeface="宋体" panose="02010600030101010101" pitchFamily="2" charset="-122"/>
            </a:endParaRPr>
          </a:p>
        </p:txBody>
      </p:sp>
      <p:sp>
        <p:nvSpPr>
          <p:cNvPr id="18" name="Rounded Rectangle 17"/>
          <p:cNvSpPr/>
          <p:nvPr/>
        </p:nvSpPr>
        <p:spPr>
          <a:xfrm>
            <a:off x="8217408" y="3316224"/>
            <a:ext cx="2865120" cy="1402080"/>
          </a:xfrm>
          <a:prstGeom prst="roundRect">
            <a:avLst/>
          </a:prstGeom>
          <a:solidFill>
            <a:srgbClr val="F2F8ED"/>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8412480" y="3462528"/>
            <a:ext cx="2474976" cy="268224"/>
          </a:xfrm>
          <a:prstGeom prst="rect">
            <a:avLst/>
          </a:prstGeom>
          <a:noFill/>
        </p:spPr>
        <p:txBody>
          <a:bodyPr wrap="square" lIns="24384" tIns="12192" rIns="24384" bIns="12192" anchor="t"/>
          <a:lstStyle/>
          <a:p>
            <a:pPr algn="ctr">
              <a:spcAft>
                <a:spcPts val="0"/>
              </a:spcAft>
            </a:pPr>
            <a:r>
              <a:rPr sz="1665" b="1">
                <a:solidFill>
                  <a:srgbClr val="70AD47"/>
                </a:solidFill>
                <a:latin typeface="黑体" panose="02010609060101010101" charset="-122"/>
              </a:rPr>
              <a:t>智慧监管</a:t>
            </a:r>
            <a:endParaRPr sz="1665" b="1">
              <a:solidFill>
                <a:srgbClr val="70AD47"/>
              </a:solidFill>
              <a:latin typeface="黑体" panose="02010609060101010101" charset="-122"/>
            </a:endParaRPr>
          </a:p>
        </p:txBody>
      </p:sp>
      <p:sp>
        <p:nvSpPr>
          <p:cNvPr id="20" name="TextBox 19"/>
          <p:cNvSpPr txBox="1"/>
          <p:nvPr/>
        </p:nvSpPr>
        <p:spPr>
          <a:xfrm>
            <a:off x="8461248" y="3901440"/>
            <a:ext cx="2377440" cy="694943"/>
          </a:xfrm>
          <a:prstGeom prst="rect">
            <a:avLst/>
          </a:prstGeom>
          <a:noFill/>
        </p:spPr>
        <p:txBody>
          <a:bodyPr wrap="square" lIns="24384" tIns="12192" rIns="24384" bIns="12192" anchor="t"/>
          <a:lstStyle/>
          <a:p>
            <a:pPr algn="ctr">
              <a:spcAft>
                <a:spcPts val="0"/>
              </a:spcAft>
            </a:pPr>
            <a:r>
              <a:rPr sz="1200" b="0">
                <a:solidFill>
                  <a:srgbClr val="000000"/>
                </a:solidFill>
                <a:latin typeface="宋体" panose="02010600030101010101" pitchFamily="2" charset="-122"/>
              </a:rPr>
              <a:t>高频交易下，AI实时真实性审核是西部金融中心建设的重要课题。</a:t>
            </a:r>
            <a:endParaRPr sz="1200" b="0">
              <a:solidFill>
                <a:srgbClr val="000000"/>
              </a:solidFill>
              <a:latin typeface="宋体" panose="02010600030101010101" pitchFamily="2" charset="-122"/>
            </a:endParaRPr>
          </a:p>
        </p:txBody>
      </p:sp>
      <p:sp>
        <p:nvSpPr>
          <p:cNvPr id="21" name="Rounded Rectangle 20"/>
          <p:cNvSpPr/>
          <p:nvPr/>
        </p:nvSpPr>
        <p:spPr>
          <a:xfrm>
            <a:off x="755904" y="5145024"/>
            <a:ext cx="10607039" cy="670560"/>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999744" y="5315712"/>
            <a:ext cx="10119360" cy="243840"/>
          </a:xfrm>
          <a:prstGeom prst="rect">
            <a:avLst/>
          </a:prstGeom>
          <a:noFill/>
        </p:spPr>
        <p:txBody>
          <a:bodyPr wrap="square" lIns="24384" tIns="12192" rIns="24384" bIns="12192" anchor="t"/>
          <a:lstStyle/>
          <a:p>
            <a:pPr algn="ctr">
              <a:spcAft>
                <a:spcPts val="0"/>
              </a:spcAft>
            </a:pPr>
            <a:r>
              <a:rPr sz="1360" b="0">
                <a:solidFill>
                  <a:srgbClr val="525252"/>
                </a:solidFill>
                <a:latin typeface="宋体" panose="02010600030101010101" pitchFamily="2" charset="-122"/>
              </a:rPr>
              <a:t>方向性判断：即时清算是贸易便利化的基础设施，但必须与AI风控、监管规则和交易纪律同步建设。</a:t>
            </a:r>
            <a:endParaRPr sz="1360" b="0">
              <a:solidFill>
                <a:srgbClr val="525252"/>
              </a:solidFill>
              <a:latin typeface="宋体" panose="02010600030101010101" pitchFamily="2" charset="-122"/>
            </a:endParaRPr>
          </a:p>
        </p:txBody>
      </p:sp>
      <p:sp>
        <p:nvSpPr>
          <p:cNvPr id="23" name="Rounded Rectangle 22"/>
          <p:cNvSpPr/>
          <p:nvPr/>
        </p:nvSpPr>
        <p:spPr>
          <a:xfrm>
            <a:off x="670560" y="6096000"/>
            <a:ext cx="1066800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p:cNvSpPr txBox="1"/>
          <p:nvPr/>
        </p:nvSpPr>
        <p:spPr>
          <a:xfrm>
            <a:off x="877824" y="6163056"/>
            <a:ext cx="10180320" cy="158496"/>
          </a:xfrm>
          <a:prstGeom prst="rect">
            <a:avLst/>
          </a:prstGeom>
          <a:noFill/>
        </p:spPr>
        <p:txBody>
          <a:bodyPr wrap="square" lIns="24384" tIns="12192" rIns="24384" bIns="12192" anchor="t"/>
          <a:lstStyle/>
          <a:p>
            <a:pPr algn="l">
              <a:spcAft>
                <a:spcPts val="0"/>
              </a:spcAft>
            </a:pPr>
            <a:r>
              <a:rPr sz="1225" b="0">
                <a:solidFill>
                  <a:srgbClr val="525252"/>
                </a:solidFill>
                <a:latin typeface="宋体" panose="02010600030101010101" pitchFamily="2" charset="-122"/>
              </a:rPr>
              <a:t>要点：T+0提供效率，AI提供识别与控制；二者结合才能服务区域开放与风险防范。</a:t>
            </a:r>
            <a:endParaRPr sz="1225" b="0">
              <a:solidFill>
                <a:srgbClr val="525252"/>
              </a:solidFill>
              <a:latin typeface="宋体" panose="02010600030101010101" pitchFamily="2" charset="-122"/>
            </a:endParaRPr>
          </a:p>
        </p:txBody>
      </p:sp>
      <p:sp>
        <p:nvSpPr>
          <p:cNvPr id="25" name="Parallelogram 24"/>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41376" y="548640"/>
            <a:ext cx="9387840" cy="438912"/>
          </a:xfrm>
          <a:prstGeom prst="rect">
            <a:avLst/>
          </a:prstGeom>
          <a:noFill/>
        </p:spPr>
        <p:txBody>
          <a:bodyPr wrap="square" lIns="24384" tIns="12192" rIns="24384" bIns="12192" anchor="t"/>
          <a:lstStyle/>
          <a:p>
            <a:pPr algn="l">
              <a:spcAft>
                <a:spcPts val="0"/>
              </a:spcAft>
            </a:pPr>
            <a:r>
              <a:rPr sz="2600" b="1">
                <a:solidFill>
                  <a:srgbClr val="4472C4"/>
                </a:solidFill>
                <a:latin typeface="黑体" panose="02010609060101010101" charset="-122"/>
              </a:rPr>
              <a:t>个人AI外汇交易的核心技术框架与实现</a:t>
            </a:r>
            <a:endParaRPr sz="2600" b="1">
              <a:solidFill>
                <a:srgbClr val="4472C4"/>
              </a:solidFill>
              <a:latin typeface="黑体" panose="02010609060101010101" charset="-122"/>
            </a:endParaRPr>
          </a:p>
        </p:txBody>
      </p:sp>
      <p:sp>
        <p:nvSpPr>
          <p:cNvPr id="3" name="TextBox 2"/>
          <p:cNvSpPr txBox="1"/>
          <p:nvPr>
            <p:custDataLst>
              <p:tags r:id="rId1"/>
            </p:custDataLst>
          </p:nvPr>
        </p:nvSpPr>
        <p:spPr>
          <a:xfrm>
            <a:off x="670560" y="1450848"/>
            <a:ext cx="243840" cy="243840"/>
          </a:xfrm>
          <a:prstGeom prst="rect">
            <a:avLst/>
          </a:prstGeom>
          <a:noFill/>
        </p:spPr>
        <p:txBody>
          <a:bodyPr wrap="square" lIns="24384" tIns="12192" rIns="24384" bIns="12192" anchor="t"/>
          <a:lstStyle/>
          <a:p>
            <a:pPr algn="l">
              <a:spcAft>
                <a:spcPts val="0"/>
              </a:spcAft>
            </a:pPr>
            <a:r>
              <a:rPr sz="1495" b="1">
                <a:solidFill>
                  <a:srgbClr val="4472C4"/>
                </a:solidFill>
                <a:latin typeface="黑体" panose="02010609060101010101" charset="-122"/>
              </a:rPr>
              <a:t>➤</a:t>
            </a:r>
            <a:endParaRPr sz="1495" b="1">
              <a:solidFill>
                <a:srgbClr val="4472C4"/>
              </a:solidFill>
              <a:latin typeface="黑体" panose="02010609060101010101" charset="-122"/>
            </a:endParaRPr>
          </a:p>
        </p:txBody>
      </p:sp>
      <p:sp>
        <p:nvSpPr>
          <p:cNvPr id="4" name="TextBox 3"/>
          <p:cNvSpPr txBox="1"/>
          <p:nvPr>
            <p:custDataLst>
              <p:tags r:id="rId2"/>
            </p:custDataLst>
          </p:nvPr>
        </p:nvSpPr>
        <p:spPr>
          <a:xfrm>
            <a:off x="975360" y="1438656"/>
            <a:ext cx="3389376" cy="219456"/>
          </a:xfrm>
          <a:prstGeom prst="rect">
            <a:avLst/>
          </a:prstGeom>
          <a:noFill/>
        </p:spPr>
        <p:txBody>
          <a:bodyPr wrap="square" lIns="24384" tIns="12192" rIns="24384" bIns="12192" anchor="t"/>
          <a:lstStyle/>
          <a:p>
            <a:pPr algn="l">
              <a:spcAft>
                <a:spcPts val="0"/>
              </a:spcAft>
            </a:pPr>
            <a:r>
              <a:rPr sz="1455" b="1">
                <a:solidFill>
                  <a:srgbClr val="4472C4"/>
                </a:solidFill>
                <a:latin typeface="黑体" panose="02010609060101010101" charset="-122"/>
              </a:rPr>
              <a:t>基础架构</a:t>
            </a:r>
            <a:endParaRPr sz="1455" b="1">
              <a:solidFill>
                <a:srgbClr val="4472C4"/>
              </a:solidFill>
              <a:latin typeface="黑体" panose="02010609060101010101" charset="-122"/>
            </a:endParaRPr>
          </a:p>
        </p:txBody>
      </p:sp>
      <p:sp>
        <p:nvSpPr>
          <p:cNvPr id="5" name="TextBox 4"/>
          <p:cNvSpPr txBox="1"/>
          <p:nvPr>
            <p:custDataLst>
              <p:tags r:id="rId3"/>
            </p:custDataLst>
          </p:nvPr>
        </p:nvSpPr>
        <p:spPr>
          <a:xfrm>
            <a:off x="975360" y="1706880"/>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本地/云端先完成数据清洗、特征提取与模型判断；</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API只负责把决策转为交易指令。</a:t>
            </a:r>
            <a:endParaRPr sz="1175" b="0">
              <a:solidFill>
                <a:srgbClr val="000000"/>
              </a:solidFill>
              <a:latin typeface="宋体" panose="02010600030101010101" pitchFamily="2" charset="-122"/>
            </a:endParaRPr>
          </a:p>
        </p:txBody>
      </p:sp>
      <p:sp>
        <p:nvSpPr>
          <p:cNvPr id="6" name="TextBox 5"/>
          <p:cNvSpPr txBox="1"/>
          <p:nvPr>
            <p:custDataLst>
              <p:tags r:id="rId4"/>
            </p:custDataLst>
          </p:nvPr>
        </p:nvSpPr>
        <p:spPr>
          <a:xfrm>
            <a:off x="670560" y="2328672"/>
            <a:ext cx="243840" cy="243840"/>
          </a:xfrm>
          <a:prstGeom prst="rect">
            <a:avLst/>
          </a:prstGeom>
          <a:noFill/>
        </p:spPr>
        <p:txBody>
          <a:bodyPr wrap="square" lIns="24384" tIns="12192" rIns="24384" bIns="12192" anchor="t"/>
          <a:lstStyle/>
          <a:p>
            <a:pPr algn="l">
              <a:spcAft>
                <a:spcPts val="0"/>
              </a:spcAft>
            </a:pPr>
            <a:r>
              <a:rPr sz="1495" b="1">
                <a:solidFill>
                  <a:srgbClr val="70AD47"/>
                </a:solidFill>
                <a:latin typeface="黑体" panose="02010609060101010101" charset="-122"/>
              </a:rPr>
              <a:t>➤</a:t>
            </a:r>
            <a:endParaRPr sz="1495" b="1">
              <a:solidFill>
                <a:srgbClr val="70AD47"/>
              </a:solidFill>
              <a:latin typeface="黑体" panose="02010609060101010101" charset="-122"/>
            </a:endParaRPr>
          </a:p>
        </p:txBody>
      </p:sp>
      <p:sp>
        <p:nvSpPr>
          <p:cNvPr id="7" name="TextBox 6"/>
          <p:cNvSpPr txBox="1"/>
          <p:nvPr>
            <p:custDataLst>
              <p:tags r:id="rId5"/>
            </p:custDataLst>
          </p:nvPr>
        </p:nvSpPr>
        <p:spPr>
          <a:xfrm>
            <a:off x="975360" y="2316480"/>
            <a:ext cx="3389376" cy="219456"/>
          </a:xfrm>
          <a:prstGeom prst="rect">
            <a:avLst/>
          </a:prstGeom>
          <a:noFill/>
        </p:spPr>
        <p:txBody>
          <a:bodyPr wrap="square" lIns="24384" tIns="12192" rIns="24384" bIns="12192" anchor="t"/>
          <a:lstStyle/>
          <a:p>
            <a:pPr algn="l">
              <a:spcAft>
                <a:spcPts val="0"/>
              </a:spcAft>
            </a:pPr>
            <a:r>
              <a:rPr sz="1455" b="1">
                <a:solidFill>
                  <a:srgbClr val="70AD47"/>
                </a:solidFill>
                <a:latin typeface="黑体" panose="02010609060101010101" charset="-122"/>
              </a:rPr>
              <a:t>Python + API</a:t>
            </a:r>
            <a:endParaRPr sz="1455" b="1">
              <a:solidFill>
                <a:srgbClr val="70AD47"/>
              </a:solidFill>
              <a:latin typeface="黑体" panose="02010609060101010101" charset="-122"/>
            </a:endParaRPr>
          </a:p>
        </p:txBody>
      </p:sp>
      <p:sp>
        <p:nvSpPr>
          <p:cNvPr id="8" name="TextBox 7"/>
          <p:cNvSpPr txBox="1"/>
          <p:nvPr>
            <p:custDataLst>
              <p:tags r:id="rId6"/>
            </p:custDataLst>
          </p:nvPr>
        </p:nvSpPr>
        <p:spPr>
          <a:xfrm>
            <a:off x="975360" y="2584704"/>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Pandas处理行情序列，TensorFlow训练预测模型；</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OANDA或IBKR接口负责实盘下单。</a:t>
            </a:r>
            <a:endParaRPr sz="1175" b="0">
              <a:solidFill>
                <a:srgbClr val="000000"/>
              </a:solidFill>
              <a:latin typeface="宋体" panose="02010600030101010101" pitchFamily="2" charset="-122"/>
            </a:endParaRPr>
          </a:p>
        </p:txBody>
      </p:sp>
      <p:sp>
        <p:nvSpPr>
          <p:cNvPr id="9" name="TextBox 8"/>
          <p:cNvSpPr txBox="1"/>
          <p:nvPr>
            <p:custDataLst>
              <p:tags r:id="rId7"/>
            </p:custDataLst>
          </p:nvPr>
        </p:nvSpPr>
        <p:spPr>
          <a:xfrm>
            <a:off x="670560" y="3206496"/>
            <a:ext cx="243840" cy="243840"/>
          </a:xfrm>
          <a:prstGeom prst="rect">
            <a:avLst/>
          </a:prstGeom>
          <a:noFill/>
        </p:spPr>
        <p:txBody>
          <a:bodyPr wrap="square" lIns="24384" tIns="12192" rIns="24384" bIns="12192" anchor="t"/>
          <a:lstStyle/>
          <a:p>
            <a:pPr algn="l">
              <a:spcAft>
                <a:spcPts val="0"/>
              </a:spcAft>
            </a:pPr>
            <a:r>
              <a:rPr sz="1495" b="1">
                <a:solidFill>
                  <a:srgbClr val="ED7D31"/>
                </a:solidFill>
                <a:latin typeface="黑体" panose="02010609060101010101" charset="-122"/>
              </a:rPr>
              <a:t>➤</a:t>
            </a:r>
            <a:endParaRPr sz="1495" b="1">
              <a:solidFill>
                <a:srgbClr val="ED7D31"/>
              </a:solidFill>
              <a:latin typeface="黑体" panose="02010609060101010101" charset="-122"/>
            </a:endParaRPr>
          </a:p>
        </p:txBody>
      </p:sp>
      <p:sp>
        <p:nvSpPr>
          <p:cNvPr id="10" name="TextBox 9"/>
          <p:cNvSpPr txBox="1"/>
          <p:nvPr>
            <p:custDataLst>
              <p:tags r:id="rId8"/>
            </p:custDataLst>
          </p:nvPr>
        </p:nvSpPr>
        <p:spPr>
          <a:xfrm>
            <a:off x="975360" y="3194304"/>
            <a:ext cx="3389376" cy="219456"/>
          </a:xfrm>
          <a:prstGeom prst="rect">
            <a:avLst/>
          </a:prstGeom>
          <a:noFill/>
        </p:spPr>
        <p:txBody>
          <a:bodyPr wrap="square" lIns="24384" tIns="12192" rIns="24384" bIns="12192" anchor="t"/>
          <a:lstStyle/>
          <a:p>
            <a:pPr algn="l">
              <a:spcAft>
                <a:spcPts val="0"/>
              </a:spcAft>
            </a:pPr>
            <a:r>
              <a:rPr sz="1455" b="1">
                <a:solidFill>
                  <a:srgbClr val="ED7D31"/>
                </a:solidFill>
                <a:latin typeface="黑体" panose="02010609060101010101" charset="-122"/>
              </a:rPr>
              <a:t>MT5原生集成</a:t>
            </a:r>
            <a:endParaRPr sz="1455" b="1">
              <a:solidFill>
                <a:srgbClr val="ED7D31"/>
              </a:solidFill>
              <a:latin typeface="黑体" panose="02010609060101010101" charset="-122"/>
            </a:endParaRPr>
          </a:p>
        </p:txBody>
      </p:sp>
      <p:sp>
        <p:nvSpPr>
          <p:cNvPr id="11" name="TextBox 10"/>
          <p:cNvSpPr txBox="1"/>
          <p:nvPr>
            <p:custDataLst>
              <p:tags r:id="rId9"/>
            </p:custDataLst>
          </p:nvPr>
        </p:nvSpPr>
        <p:spPr>
          <a:xfrm>
            <a:off x="975360" y="3462528"/>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AI模型可在后台运行，MT5负责读取Tick行情；</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适合熟悉外汇终端的个人开发者。</a:t>
            </a:r>
            <a:endParaRPr sz="1175" b="0">
              <a:solidFill>
                <a:srgbClr val="000000"/>
              </a:solidFill>
              <a:latin typeface="宋体" panose="02010600030101010101" pitchFamily="2" charset="-122"/>
            </a:endParaRPr>
          </a:p>
        </p:txBody>
      </p:sp>
      <p:sp>
        <p:nvSpPr>
          <p:cNvPr id="12" name="TextBox 11"/>
          <p:cNvSpPr txBox="1"/>
          <p:nvPr>
            <p:custDataLst>
              <p:tags r:id="rId10"/>
            </p:custDataLst>
          </p:nvPr>
        </p:nvSpPr>
        <p:spPr>
          <a:xfrm>
            <a:off x="670560" y="4084319"/>
            <a:ext cx="243840" cy="243840"/>
          </a:xfrm>
          <a:prstGeom prst="rect">
            <a:avLst/>
          </a:prstGeom>
          <a:noFill/>
        </p:spPr>
        <p:txBody>
          <a:bodyPr wrap="square" lIns="24384" tIns="12192" rIns="24384" bIns="12192" anchor="t"/>
          <a:lstStyle/>
          <a:p>
            <a:pPr algn="l">
              <a:spcAft>
                <a:spcPts val="0"/>
              </a:spcAft>
            </a:pPr>
            <a:r>
              <a:rPr sz="1495" b="1">
                <a:solidFill>
                  <a:srgbClr val="4472C4"/>
                </a:solidFill>
                <a:latin typeface="黑体" panose="02010609060101010101" charset="-122"/>
              </a:rPr>
              <a:t>➤</a:t>
            </a:r>
            <a:endParaRPr sz="1495" b="1">
              <a:solidFill>
                <a:srgbClr val="4472C4"/>
              </a:solidFill>
              <a:latin typeface="黑体" panose="02010609060101010101" charset="-122"/>
            </a:endParaRPr>
          </a:p>
        </p:txBody>
      </p:sp>
      <p:sp>
        <p:nvSpPr>
          <p:cNvPr id="13" name="TextBox 12"/>
          <p:cNvSpPr txBox="1"/>
          <p:nvPr>
            <p:custDataLst>
              <p:tags r:id="rId11"/>
            </p:custDataLst>
          </p:nvPr>
        </p:nvSpPr>
        <p:spPr>
          <a:xfrm>
            <a:off x="975360" y="4072128"/>
            <a:ext cx="3389376" cy="219456"/>
          </a:xfrm>
          <a:prstGeom prst="rect">
            <a:avLst/>
          </a:prstGeom>
          <a:noFill/>
        </p:spPr>
        <p:txBody>
          <a:bodyPr wrap="square" lIns="24384" tIns="12192" rIns="24384" bIns="12192" anchor="t"/>
          <a:lstStyle/>
          <a:p>
            <a:pPr algn="l">
              <a:spcAft>
                <a:spcPts val="0"/>
              </a:spcAft>
            </a:pPr>
            <a:r>
              <a:rPr sz="1455" b="1">
                <a:solidFill>
                  <a:srgbClr val="4472C4"/>
                </a:solidFill>
                <a:latin typeface="黑体" panose="02010609060101010101" charset="-122"/>
              </a:rPr>
              <a:t>本土实战路径</a:t>
            </a:r>
            <a:endParaRPr sz="1455" b="1">
              <a:solidFill>
                <a:srgbClr val="4472C4"/>
              </a:solidFill>
              <a:latin typeface="黑体" panose="02010609060101010101" charset="-122"/>
            </a:endParaRPr>
          </a:p>
        </p:txBody>
      </p:sp>
      <p:sp>
        <p:nvSpPr>
          <p:cNvPr id="14" name="TextBox 13"/>
          <p:cNvSpPr txBox="1"/>
          <p:nvPr>
            <p:custDataLst>
              <p:tags r:id="rId12"/>
            </p:custDataLst>
          </p:nvPr>
        </p:nvSpPr>
        <p:spPr>
          <a:xfrm>
            <a:off x="975360" y="4340352"/>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境内缺少高频外汇API，执行常通过海外持牌账户；</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vn.py可作为跨市场策略中台。</a:t>
            </a:r>
            <a:endParaRPr sz="1175" b="0">
              <a:solidFill>
                <a:srgbClr val="000000"/>
              </a:solidFill>
              <a:latin typeface="宋体" panose="02010600030101010101" pitchFamily="2" charset="-122"/>
            </a:endParaRPr>
          </a:p>
        </p:txBody>
      </p:sp>
      <p:sp>
        <p:nvSpPr>
          <p:cNvPr id="15" name="TextBox 14"/>
          <p:cNvSpPr txBox="1"/>
          <p:nvPr>
            <p:custDataLst>
              <p:tags r:id="rId13"/>
            </p:custDataLst>
          </p:nvPr>
        </p:nvSpPr>
        <p:spPr>
          <a:xfrm>
            <a:off x="670560" y="4962143"/>
            <a:ext cx="243840" cy="243840"/>
          </a:xfrm>
          <a:prstGeom prst="rect">
            <a:avLst/>
          </a:prstGeom>
          <a:noFill/>
        </p:spPr>
        <p:txBody>
          <a:bodyPr wrap="square" lIns="24384" tIns="12192" rIns="24384" bIns="12192" anchor="t"/>
          <a:lstStyle/>
          <a:p>
            <a:pPr algn="l">
              <a:spcAft>
                <a:spcPts val="0"/>
              </a:spcAft>
            </a:pPr>
            <a:r>
              <a:rPr sz="1495" b="1">
                <a:solidFill>
                  <a:srgbClr val="70AD47"/>
                </a:solidFill>
                <a:latin typeface="黑体" panose="02010609060101010101" charset="-122"/>
              </a:rPr>
              <a:t>➤</a:t>
            </a:r>
            <a:endParaRPr sz="1495" b="1">
              <a:solidFill>
                <a:srgbClr val="70AD47"/>
              </a:solidFill>
              <a:latin typeface="黑体" panose="02010609060101010101" charset="-122"/>
            </a:endParaRPr>
          </a:p>
        </p:txBody>
      </p:sp>
      <p:sp>
        <p:nvSpPr>
          <p:cNvPr id="16" name="TextBox 15"/>
          <p:cNvSpPr txBox="1"/>
          <p:nvPr>
            <p:custDataLst>
              <p:tags r:id="rId14"/>
            </p:custDataLst>
          </p:nvPr>
        </p:nvSpPr>
        <p:spPr>
          <a:xfrm>
            <a:off x="975360" y="4949951"/>
            <a:ext cx="3389376" cy="219456"/>
          </a:xfrm>
          <a:prstGeom prst="rect">
            <a:avLst/>
          </a:prstGeom>
          <a:noFill/>
        </p:spPr>
        <p:txBody>
          <a:bodyPr wrap="square" lIns="24384" tIns="12192" rIns="24384" bIns="12192" anchor="t"/>
          <a:lstStyle/>
          <a:p>
            <a:pPr algn="l">
              <a:spcAft>
                <a:spcPts val="0"/>
              </a:spcAft>
            </a:pPr>
            <a:r>
              <a:rPr sz="1455" b="1">
                <a:solidFill>
                  <a:srgbClr val="70AD47"/>
                </a:solidFill>
                <a:latin typeface="黑体" panose="02010609060101010101" charset="-122"/>
              </a:rPr>
              <a:t>AI辅助编程</a:t>
            </a:r>
            <a:endParaRPr sz="1455" b="1">
              <a:solidFill>
                <a:srgbClr val="70AD47"/>
              </a:solidFill>
              <a:latin typeface="黑体" panose="02010609060101010101" charset="-122"/>
            </a:endParaRPr>
          </a:p>
        </p:txBody>
      </p:sp>
      <p:sp>
        <p:nvSpPr>
          <p:cNvPr id="17" name="TextBox 16"/>
          <p:cNvSpPr txBox="1"/>
          <p:nvPr>
            <p:custDataLst>
              <p:tags r:id="rId15"/>
            </p:custDataLst>
          </p:nvPr>
        </p:nvSpPr>
        <p:spPr>
          <a:xfrm>
            <a:off x="975360" y="5218175"/>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DeepSeek、Kimi可生成MQL5/Python脚本；</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重点仍要人工检查逻辑与风控。</a:t>
            </a:r>
            <a:endParaRPr sz="1175" b="0">
              <a:solidFill>
                <a:srgbClr val="000000"/>
              </a:solidFill>
              <a:latin typeface="宋体" panose="02010600030101010101" pitchFamily="2" charset="-122"/>
            </a:endParaRPr>
          </a:p>
        </p:txBody>
      </p:sp>
      <p:pic>
        <p:nvPicPr>
          <p:cNvPr id="18" name="Picture 17" descr="ai_fx_architecture.png"/>
          <p:cNvPicPr>
            <a:picLocks noChangeAspect="1"/>
          </p:cNvPicPr>
          <p:nvPr/>
        </p:nvPicPr>
        <p:blipFill>
          <a:blip r:embed="rId16"/>
          <a:stretch>
            <a:fillRect/>
          </a:stretch>
        </p:blipFill>
        <p:spPr>
          <a:xfrm>
            <a:off x="5547360" y="1365504"/>
            <a:ext cx="6035040" cy="4169664"/>
          </a:xfrm>
          <a:prstGeom prst="rect">
            <a:avLst/>
          </a:prstGeom>
        </p:spPr>
      </p:pic>
      <p:sp>
        <p:nvSpPr>
          <p:cNvPr id="19" name="Rounded Rectangle 18"/>
          <p:cNvSpPr/>
          <p:nvPr/>
        </p:nvSpPr>
        <p:spPr>
          <a:xfrm>
            <a:off x="670560" y="6096000"/>
            <a:ext cx="1066800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77824" y="6163056"/>
            <a:ext cx="10180320" cy="158496"/>
          </a:xfrm>
          <a:prstGeom prst="rect">
            <a:avLst/>
          </a:prstGeom>
          <a:noFill/>
        </p:spPr>
        <p:txBody>
          <a:bodyPr wrap="square" lIns="24384" tIns="12192" rIns="24384" bIns="12192" anchor="t"/>
          <a:lstStyle/>
          <a:p>
            <a:r>
              <a:rPr sz="1175" b="0">
                <a:solidFill>
                  <a:srgbClr val="525252"/>
                </a:solidFill>
                <a:latin typeface="宋体" panose="02010600030101010101" pitchFamily="2" charset="-122"/>
              </a:rPr>
              <a:t>要点：个人AI外汇交易不是追求“全自动”，而是把策略、接口、账户与风控连接成可验证流程。</a:t>
            </a:r>
            <a:endParaRPr sz="1175" b="0">
              <a:solidFill>
                <a:srgbClr val="525252"/>
              </a:solidFill>
              <a:latin typeface="宋体" panose="02010600030101010101" pitchFamily="2" charset="-122"/>
            </a:endParaRPr>
          </a:p>
        </p:txBody>
      </p:sp>
      <p:sp>
        <p:nvSpPr>
          <p:cNvPr id="21" name="Parallelogram 20"/>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1"/>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41376" y="548640"/>
            <a:ext cx="9387840" cy="438912"/>
          </a:xfrm>
          <a:prstGeom prst="rect">
            <a:avLst/>
          </a:prstGeom>
          <a:noFill/>
        </p:spPr>
        <p:txBody>
          <a:bodyPr wrap="square" lIns="24384" tIns="12192" rIns="24384" bIns="12192" anchor="t"/>
          <a:lstStyle/>
          <a:p>
            <a:pPr algn="l">
              <a:spcAft>
                <a:spcPts val="0"/>
              </a:spcAft>
            </a:pPr>
            <a:r>
              <a:rPr sz="2600" b="1">
                <a:solidFill>
                  <a:srgbClr val="4472C4"/>
                </a:solidFill>
                <a:latin typeface="黑体" panose="02010609060101010101" charset="-122"/>
              </a:rPr>
              <a:t>进阶应用模型与云端/低代码方案</a:t>
            </a:r>
            <a:endParaRPr sz="2600" b="1">
              <a:solidFill>
                <a:srgbClr val="4472C4"/>
              </a:solidFill>
              <a:latin typeface="黑体" panose="02010609060101010101" charset="-122"/>
            </a:endParaRPr>
          </a:p>
        </p:txBody>
      </p:sp>
      <p:sp>
        <p:nvSpPr>
          <p:cNvPr id="3" name="TextBox 2"/>
          <p:cNvSpPr txBox="1"/>
          <p:nvPr/>
        </p:nvSpPr>
        <p:spPr>
          <a:xfrm>
            <a:off x="670560" y="1450848"/>
            <a:ext cx="243840" cy="243840"/>
          </a:xfrm>
          <a:prstGeom prst="rect">
            <a:avLst/>
          </a:prstGeom>
          <a:noFill/>
        </p:spPr>
        <p:txBody>
          <a:bodyPr wrap="square" lIns="24384" tIns="12192" rIns="24384" bIns="12192" anchor="t"/>
          <a:lstStyle/>
          <a:p>
            <a:pPr algn="l">
              <a:spcAft>
                <a:spcPts val="0"/>
              </a:spcAft>
            </a:pPr>
            <a:r>
              <a:rPr sz="1495" b="1">
                <a:solidFill>
                  <a:srgbClr val="70AD47"/>
                </a:solidFill>
                <a:latin typeface="黑体" panose="02010609060101010101" charset="-122"/>
              </a:rPr>
              <a:t>➤</a:t>
            </a:r>
            <a:endParaRPr sz="1495" b="1">
              <a:solidFill>
                <a:srgbClr val="70AD47"/>
              </a:solidFill>
              <a:latin typeface="黑体" panose="02010609060101010101" charset="-122"/>
            </a:endParaRPr>
          </a:p>
        </p:txBody>
      </p:sp>
      <p:sp>
        <p:nvSpPr>
          <p:cNvPr id="4" name="TextBox 3"/>
          <p:cNvSpPr txBox="1"/>
          <p:nvPr/>
        </p:nvSpPr>
        <p:spPr>
          <a:xfrm>
            <a:off x="975360" y="1438656"/>
            <a:ext cx="3389376" cy="219456"/>
          </a:xfrm>
          <a:prstGeom prst="rect">
            <a:avLst/>
          </a:prstGeom>
          <a:noFill/>
        </p:spPr>
        <p:txBody>
          <a:bodyPr wrap="square" lIns="24384" tIns="12192" rIns="24384" bIns="12192" anchor="t"/>
          <a:lstStyle/>
          <a:p>
            <a:pPr algn="l">
              <a:spcAft>
                <a:spcPts val="0"/>
              </a:spcAft>
            </a:pPr>
            <a:r>
              <a:rPr sz="1455" b="1">
                <a:solidFill>
                  <a:srgbClr val="70AD47"/>
                </a:solidFill>
                <a:latin typeface="黑体" panose="02010609060101010101" charset="-122"/>
              </a:rPr>
              <a:t>NLP情感交易</a:t>
            </a:r>
            <a:endParaRPr sz="1455" b="1">
              <a:solidFill>
                <a:srgbClr val="70AD47"/>
              </a:solidFill>
              <a:latin typeface="黑体" panose="02010609060101010101" charset="-122"/>
            </a:endParaRPr>
          </a:p>
        </p:txBody>
      </p:sp>
      <p:sp>
        <p:nvSpPr>
          <p:cNvPr id="5" name="TextBox 4"/>
          <p:cNvSpPr txBox="1"/>
          <p:nvPr/>
        </p:nvSpPr>
        <p:spPr>
          <a:xfrm>
            <a:off x="975360" y="1706880"/>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把新闻、央行表态、宏观数据转为机器可读文本；</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FinBERT输出看涨/看跌情绪分数。</a:t>
            </a:r>
            <a:endParaRPr sz="1175" b="0">
              <a:solidFill>
                <a:srgbClr val="000000"/>
              </a:solidFill>
              <a:latin typeface="宋体" panose="02010600030101010101" pitchFamily="2" charset="-122"/>
            </a:endParaRPr>
          </a:p>
        </p:txBody>
      </p:sp>
      <p:sp>
        <p:nvSpPr>
          <p:cNvPr id="6" name="TextBox 5"/>
          <p:cNvSpPr txBox="1"/>
          <p:nvPr/>
        </p:nvSpPr>
        <p:spPr>
          <a:xfrm>
            <a:off x="670560" y="2328672"/>
            <a:ext cx="243840" cy="243840"/>
          </a:xfrm>
          <a:prstGeom prst="rect">
            <a:avLst/>
          </a:prstGeom>
          <a:noFill/>
        </p:spPr>
        <p:txBody>
          <a:bodyPr wrap="square" lIns="24384" tIns="12192" rIns="24384" bIns="12192" anchor="t"/>
          <a:lstStyle/>
          <a:p>
            <a:pPr algn="l">
              <a:spcAft>
                <a:spcPts val="0"/>
              </a:spcAft>
            </a:pPr>
            <a:r>
              <a:rPr sz="1495" b="1">
                <a:solidFill>
                  <a:srgbClr val="ED7D31"/>
                </a:solidFill>
                <a:latin typeface="黑体" panose="02010609060101010101" charset="-122"/>
              </a:rPr>
              <a:t>➤</a:t>
            </a:r>
            <a:endParaRPr sz="1495" b="1">
              <a:solidFill>
                <a:srgbClr val="ED7D31"/>
              </a:solidFill>
              <a:latin typeface="黑体" panose="02010609060101010101" charset="-122"/>
            </a:endParaRPr>
          </a:p>
        </p:txBody>
      </p:sp>
      <p:sp>
        <p:nvSpPr>
          <p:cNvPr id="7" name="TextBox 6"/>
          <p:cNvSpPr txBox="1"/>
          <p:nvPr/>
        </p:nvSpPr>
        <p:spPr>
          <a:xfrm>
            <a:off x="975360" y="2316480"/>
            <a:ext cx="3389376" cy="219456"/>
          </a:xfrm>
          <a:prstGeom prst="rect">
            <a:avLst/>
          </a:prstGeom>
          <a:noFill/>
        </p:spPr>
        <p:txBody>
          <a:bodyPr wrap="square" lIns="24384" tIns="12192" rIns="24384" bIns="12192" anchor="t"/>
          <a:lstStyle/>
          <a:p>
            <a:pPr algn="l">
              <a:spcAft>
                <a:spcPts val="0"/>
              </a:spcAft>
            </a:pPr>
            <a:r>
              <a:rPr sz="1455" b="1">
                <a:solidFill>
                  <a:srgbClr val="ED7D31"/>
                </a:solidFill>
                <a:latin typeface="黑体" panose="02010609060101010101" charset="-122"/>
              </a:rPr>
              <a:t>阈值触发</a:t>
            </a:r>
            <a:endParaRPr sz="1455" b="1">
              <a:solidFill>
                <a:srgbClr val="ED7D31"/>
              </a:solidFill>
              <a:latin typeface="黑体" panose="02010609060101010101" charset="-122"/>
            </a:endParaRPr>
          </a:p>
        </p:txBody>
      </p:sp>
      <p:sp>
        <p:nvSpPr>
          <p:cNvPr id="8" name="TextBox 7"/>
          <p:cNvSpPr txBox="1"/>
          <p:nvPr/>
        </p:nvSpPr>
        <p:spPr>
          <a:xfrm>
            <a:off x="975360" y="2584704"/>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当情绪分数超过阈值，系统才生成交易信号；</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避免把每条新闻都机械转为订单。</a:t>
            </a:r>
            <a:endParaRPr sz="1175" b="0">
              <a:solidFill>
                <a:srgbClr val="000000"/>
              </a:solidFill>
              <a:latin typeface="宋体" panose="02010600030101010101" pitchFamily="2" charset="-122"/>
            </a:endParaRPr>
          </a:p>
        </p:txBody>
      </p:sp>
      <p:sp>
        <p:nvSpPr>
          <p:cNvPr id="9" name="TextBox 8"/>
          <p:cNvSpPr txBox="1"/>
          <p:nvPr/>
        </p:nvSpPr>
        <p:spPr>
          <a:xfrm>
            <a:off x="670560" y="3206496"/>
            <a:ext cx="243840" cy="243840"/>
          </a:xfrm>
          <a:prstGeom prst="rect">
            <a:avLst/>
          </a:prstGeom>
          <a:noFill/>
        </p:spPr>
        <p:txBody>
          <a:bodyPr wrap="square" lIns="24384" tIns="12192" rIns="24384" bIns="12192" anchor="t"/>
          <a:lstStyle/>
          <a:p>
            <a:pPr algn="l">
              <a:spcAft>
                <a:spcPts val="0"/>
              </a:spcAft>
            </a:pPr>
            <a:r>
              <a:rPr sz="1495" b="1">
                <a:solidFill>
                  <a:srgbClr val="4472C4"/>
                </a:solidFill>
                <a:latin typeface="黑体" panose="02010609060101010101" charset="-122"/>
              </a:rPr>
              <a:t>➤</a:t>
            </a:r>
            <a:endParaRPr sz="1495" b="1">
              <a:solidFill>
                <a:srgbClr val="4472C4"/>
              </a:solidFill>
              <a:latin typeface="黑体" panose="02010609060101010101" charset="-122"/>
            </a:endParaRPr>
          </a:p>
        </p:txBody>
      </p:sp>
      <p:sp>
        <p:nvSpPr>
          <p:cNvPr id="10" name="TextBox 9"/>
          <p:cNvSpPr txBox="1"/>
          <p:nvPr/>
        </p:nvSpPr>
        <p:spPr>
          <a:xfrm>
            <a:off x="975360" y="3194304"/>
            <a:ext cx="3389376" cy="219456"/>
          </a:xfrm>
          <a:prstGeom prst="rect">
            <a:avLst/>
          </a:prstGeom>
          <a:noFill/>
        </p:spPr>
        <p:txBody>
          <a:bodyPr wrap="square" lIns="24384" tIns="12192" rIns="24384" bIns="12192" anchor="t"/>
          <a:lstStyle/>
          <a:p>
            <a:pPr algn="l">
              <a:spcAft>
                <a:spcPts val="0"/>
              </a:spcAft>
            </a:pPr>
            <a:r>
              <a:rPr sz="1455" b="1">
                <a:solidFill>
                  <a:srgbClr val="4472C4"/>
                </a:solidFill>
                <a:latin typeface="黑体" panose="02010609060101010101" charset="-122"/>
              </a:rPr>
              <a:t>云端量化平台</a:t>
            </a:r>
            <a:endParaRPr sz="1455" b="1">
              <a:solidFill>
                <a:srgbClr val="4472C4"/>
              </a:solidFill>
              <a:latin typeface="黑体" panose="02010609060101010101" charset="-122"/>
            </a:endParaRPr>
          </a:p>
        </p:txBody>
      </p:sp>
      <p:sp>
        <p:nvSpPr>
          <p:cNvPr id="11" name="TextBox 10"/>
          <p:cNvSpPr txBox="1"/>
          <p:nvPr/>
        </p:nvSpPr>
        <p:spPr>
          <a:xfrm>
            <a:off x="975360" y="3462528"/>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QuantConnect整合历史数据、算力和回测环境；</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适合训练后直接挂载实盘策略。</a:t>
            </a:r>
            <a:endParaRPr sz="1175" b="0">
              <a:solidFill>
                <a:srgbClr val="000000"/>
              </a:solidFill>
              <a:latin typeface="宋体" panose="02010600030101010101" pitchFamily="2" charset="-122"/>
            </a:endParaRPr>
          </a:p>
        </p:txBody>
      </p:sp>
      <p:sp>
        <p:nvSpPr>
          <p:cNvPr id="12" name="TextBox 11"/>
          <p:cNvSpPr txBox="1"/>
          <p:nvPr/>
        </p:nvSpPr>
        <p:spPr>
          <a:xfrm>
            <a:off x="670560" y="4084319"/>
            <a:ext cx="243840" cy="243840"/>
          </a:xfrm>
          <a:prstGeom prst="rect">
            <a:avLst/>
          </a:prstGeom>
          <a:noFill/>
        </p:spPr>
        <p:txBody>
          <a:bodyPr wrap="square" lIns="24384" tIns="12192" rIns="24384" bIns="12192" anchor="t"/>
          <a:lstStyle/>
          <a:p>
            <a:pPr algn="l">
              <a:spcAft>
                <a:spcPts val="0"/>
              </a:spcAft>
            </a:pPr>
            <a:r>
              <a:rPr sz="1495" b="1">
                <a:solidFill>
                  <a:srgbClr val="70AD47"/>
                </a:solidFill>
                <a:latin typeface="黑体" panose="02010609060101010101" charset="-122"/>
              </a:rPr>
              <a:t>➤</a:t>
            </a:r>
            <a:endParaRPr sz="1495" b="1">
              <a:solidFill>
                <a:srgbClr val="70AD47"/>
              </a:solidFill>
              <a:latin typeface="黑体" panose="02010609060101010101" charset="-122"/>
            </a:endParaRPr>
          </a:p>
        </p:txBody>
      </p:sp>
      <p:sp>
        <p:nvSpPr>
          <p:cNvPr id="13" name="TextBox 12"/>
          <p:cNvSpPr txBox="1"/>
          <p:nvPr/>
        </p:nvSpPr>
        <p:spPr>
          <a:xfrm>
            <a:off x="975360" y="4072128"/>
            <a:ext cx="3389376" cy="219456"/>
          </a:xfrm>
          <a:prstGeom prst="rect">
            <a:avLst/>
          </a:prstGeom>
          <a:noFill/>
        </p:spPr>
        <p:txBody>
          <a:bodyPr wrap="square" lIns="24384" tIns="12192" rIns="24384" bIns="12192" anchor="t"/>
          <a:lstStyle/>
          <a:p>
            <a:pPr algn="l">
              <a:spcAft>
                <a:spcPts val="0"/>
              </a:spcAft>
            </a:pPr>
            <a:r>
              <a:rPr sz="1455" b="1">
                <a:solidFill>
                  <a:srgbClr val="70AD47"/>
                </a:solidFill>
                <a:latin typeface="黑体" panose="02010609060101010101" charset="-122"/>
              </a:rPr>
              <a:t>国内逻辑平移</a:t>
            </a:r>
            <a:endParaRPr sz="1455" b="1">
              <a:solidFill>
                <a:srgbClr val="70AD47"/>
              </a:solidFill>
              <a:latin typeface="黑体" panose="02010609060101010101" charset="-122"/>
            </a:endParaRPr>
          </a:p>
        </p:txBody>
      </p:sp>
      <p:sp>
        <p:nvSpPr>
          <p:cNvPr id="14" name="TextBox 13"/>
          <p:cNvSpPr txBox="1"/>
          <p:nvPr/>
        </p:nvSpPr>
        <p:spPr>
          <a:xfrm>
            <a:off x="975360" y="4340352"/>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BigQuant、聚宽可先跑通机器学习流程；</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再把因子逻辑迁移到外汇数据。</a:t>
            </a:r>
            <a:endParaRPr sz="1175" b="0">
              <a:solidFill>
                <a:srgbClr val="000000"/>
              </a:solidFill>
              <a:latin typeface="宋体" panose="02010600030101010101" pitchFamily="2" charset="-122"/>
            </a:endParaRPr>
          </a:p>
        </p:txBody>
      </p:sp>
      <p:sp>
        <p:nvSpPr>
          <p:cNvPr id="15" name="TextBox 14"/>
          <p:cNvSpPr txBox="1"/>
          <p:nvPr/>
        </p:nvSpPr>
        <p:spPr>
          <a:xfrm>
            <a:off x="670560" y="4962143"/>
            <a:ext cx="243840" cy="243840"/>
          </a:xfrm>
          <a:prstGeom prst="rect">
            <a:avLst/>
          </a:prstGeom>
          <a:noFill/>
        </p:spPr>
        <p:txBody>
          <a:bodyPr wrap="square" lIns="24384" tIns="12192" rIns="24384" bIns="12192" anchor="t"/>
          <a:lstStyle/>
          <a:p>
            <a:pPr algn="l">
              <a:spcAft>
                <a:spcPts val="0"/>
              </a:spcAft>
            </a:pPr>
            <a:r>
              <a:rPr sz="1495" b="1">
                <a:solidFill>
                  <a:srgbClr val="4472C4"/>
                </a:solidFill>
                <a:latin typeface="黑体" panose="02010609060101010101" charset="-122"/>
              </a:rPr>
              <a:t>➤</a:t>
            </a:r>
            <a:endParaRPr sz="1495" b="1">
              <a:solidFill>
                <a:srgbClr val="4472C4"/>
              </a:solidFill>
              <a:latin typeface="黑体" panose="02010609060101010101" charset="-122"/>
            </a:endParaRPr>
          </a:p>
        </p:txBody>
      </p:sp>
      <p:sp>
        <p:nvSpPr>
          <p:cNvPr id="16" name="TextBox 15"/>
          <p:cNvSpPr txBox="1"/>
          <p:nvPr/>
        </p:nvSpPr>
        <p:spPr>
          <a:xfrm>
            <a:off x="975360" y="4949951"/>
            <a:ext cx="3389376" cy="219456"/>
          </a:xfrm>
          <a:prstGeom prst="rect">
            <a:avLst/>
          </a:prstGeom>
          <a:noFill/>
        </p:spPr>
        <p:txBody>
          <a:bodyPr wrap="square" lIns="24384" tIns="12192" rIns="24384" bIns="12192" anchor="t"/>
          <a:lstStyle/>
          <a:p>
            <a:pPr algn="l">
              <a:spcAft>
                <a:spcPts val="0"/>
              </a:spcAft>
            </a:pPr>
            <a:r>
              <a:rPr sz="1455" b="1">
                <a:solidFill>
                  <a:srgbClr val="4472C4"/>
                </a:solidFill>
                <a:latin typeface="黑体" panose="02010609060101010101" charset="-122"/>
              </a:rPr>
              <a:t>低代码执行</a:t>
            </a:r>
            <a:endParaRPr sz="1455" b="1">
              <a:solidFill>
                <a:srgbClr val="4472C4"/>
              </a:solidFill>
              <a:latin typeface="黑体" panose="02010609060101010101" charset="-122"/>
            </a:endParaRPr>
          </a:p>
        </p:txBody>
      </p:sp>
      <p:sp>
        <p:nvSpPr>
          <p:cNvPr id="17" name="TextBox 16"/>
          <p:cNvSpPr txBox="1"/>
          <p:nvPr/>
        </p:nvSpPr>
        <p:spPr>
          <a:xfrm>
            <a:off x="975360" y="5218175"/>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用条件句或Webhook连接外部AI信号；</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优势是部署快，弱点是策略透明度有限。</a:t>
            </a:r>
            <a:endParaRPr sz="1175" b="0">
              <a:solidFill>
                <a:srgbClr val="000000"/>
              </a:solidFill>
              <a:latin typeface="宋体" panose="02010600030101010101" pitchFamily="2" charset="-122"/>
            </a:endParaRPr>
          </a:p>
        </p:txBody>
      </p:sp>
      <p:pic>
        <p:nvPicPr>
          <p:cNvPr id="18" name="Picture 17" descr="ai_fx_nlp_platform.png"/>
          <p:cNvPicPr>
            <a:picLocks noChangeAspect="1"/>
          </p:cNvPicPr>
          <p:nvPr/>
        </p:nvPicPr>
        <p:blipFill>
          <a:blip r:embed="rId1"/>
          <a:stretch>
            <a:fillRect/>
          </a:stretch>
        </p:blipFill>
        <p:spPr>
          <a:xfrm>
            <a:off x="5547360" y="1365504"/>
            <a:ext cx="6035040" cy="4169664"/>
          </a:xfrm>
          <a:prstGeom prst="rect">
            <a:avLst/>
          </a:prstGeom>
        </p:spPr>
      </p:pic>
      <p:sp>
        <p:nvSpPr>
          <p:cNvPr id="19" name="Rounded Rectangle 18"/>
          <p:cNvSpPr/>
          <p:nvPr/>
        </p:nvSpPr>
        <p:spPr>
          <a:xfrm>
            <a:off x="670560" y="6096000"/>
            <a:ext cx="1066800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77824" y="6163056"/>
            <a:ext cx="10180320" cy="158496"/>
          </a:xfrm>
          <a:prstGeom prst="rect">
            <a:avLst/>
          </a:prstGeom>
          <a:noFill/>
        </p:spPr>
        <p:txBody>
          <a:bodyPr wrap="square" lIns="24384" tIns="12192" rIns="24384" bIns="12192" anchor="t"/>
          <a:lstStyle/>
          <a:p>
            <a:r>
              <a:rPr sz="1175" b="0">
                <a:solidFill>
                  <a:srgbClr val="525252"/>
                </a:solidFill>
                <a:latin typeface="宋体" panose="02010600030101010101" pitchFamily="2" charset="-122"/>
              </a:rPr>
              <a:t>要点：NLP、云端算力和低代码平台降低试错门槛，但执行账户、数据质量与合规边界仍需单独处理。</a:t>
            </a:r>
            <a:endParaRPr sz="1175" b="0">
              <a:solidFill>
                <a:srgbClr val="525252"/>
              </a:solidFill>
              <a:latin typeface="宋体" panose="02010600030101010101" pitchFamily="2" charset="-122"/>
            </a:endParaRPr>
          </a:p>
        </p:txBody>
      </p:sp>
      <p:sp>
        <p:nvSpPr>
          <p:cNvPr id="21" name="Parallelogram 20"/>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1"/>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41376" y="548640"/>
            <a:ext cx="9387840" cy="438912"/>
          </a:xfrm>
          <a:prstGeom prst="rect">
            <a:avLst/>
          </a:prstGeom>
          <a:noFill/>
        </p:spPr>
        <p:txBody>
          <a:bodyPr wrap="square" lIns="24384" tIns="12192" rIns="24384" bIns="12192" anchor="t"/>
          <a:lstStyle/>
          <a:p>
            <a:pPr algn="l">
              <a:spcAft>
                <a:spcPts val="0"/>
              </a:spcAft>
            </a:pPr>
            <a:r>
              <a:rPr sz="2600" b="1">
                <a:solidFill>
                  <a:srgbClr val="4472C4"/>
                </a:solidFill>
                <a:latin typeface="黑体" panose="02010609060101010101" charset="-122"/>
              </a:rPr>
              <a:t>实战痛点与AI交易系统的方向性误区</a:t>
            </a:r>
            <a:endParaRPr sz="2600" b="1">
              <a:solidFill>
                <a:srgbClr val="4472C4"/>
              </a:solidFill>
              <a:latin typeface="黑体" panose="02010609060101010101" charset="-122"/>
            </a:endParaRPr>
          </a:p>
        </p:txBody>
      </p:sp>
      <p:sp>
        <p:nvSpPr>
          <p:cNvPr id="3" name="TextBox 2"/>
          <p:cNvSpPr txBox="1"/>
          <p:nvPr/>
        </p:nvSpPr>
        <p:spPr>
          <a:xfrm>
            <a:off x="670560" y="1450848"/>
            <a:ext cx="243840" cy="243840"/>
          </a:xfrm>
          <a:prstGeom prst="rect">
            <a:avLst/>
          </a:prstGeom>
          <a:noFill/>
        </p:spPr>
        <p:txBody>
          <a:bodyPr wrap="square" lIns="24384" tIns="12192" rIns="24384" bIns="12192" anchor="t"/>
          <a:lstStyle/>
          <a:p>
            <a:pPr algn="l">
              <a:spcAft>
                <a:spcPts val="0"/>
              </a:spcAft>
            </a:pPr>
            <a:r>
              <a:rPr sz="1495" b="1">
                <a:solidFill>
                  <a:srgbClr val="C00000"/>
                </a:solidFill>
                <a:latin typeface="黑体" panose="02010609060101010101" charset="-122"/>
              </a:rPr>
              <a:t>➤</a:t>
            </a:r>
            <a:endParaRPr sz="1495" b="1">
              <a:solidFill>
                <a:srgbClr val="C00000"/>
              </a:solidFill>
              <a:latin typeface="黑体" panose="02010609060101010101" charset="-122"/>
            </a:endParaRPr>
          </a:p>
        </p:txBody>
      </p:sp>
      <p:sp>
        <p:nvSpPr>
          <p:cNvPr id="4" name="TextBox 3"/>
          <p:cNvSpPr txBox="1"/>
          <p:nvPr/>
        </p:nvSpPr>
        <p:spPr>
          <a:xfrm>
            <a:off x="975360" y="1438656"/>
            <a:ext cx="3389376" cy="219456"/>
          </a:xfrm>
          <a:prstGeom prst="rect">
            <a:avLst/>
          </a:prstGeom>
          <a:noFill/>
        </p:spPr>
        <p:txBody>
          <a:bodyPr wrap="square" lIns="24384" tIns="12192" rIns="24384" bIns="12192" anchor="t"/>
          <a:lstStyle/>
          <a:p>
            <a:pPr algn="l">
              <a:spcAft>
                <a:spcPts val="0"/>
              </a:spcAft>
            </a:pPr>
            <a:r>
              <a:rPr sz="1455" b="1">
                <a:solidFill>
                  <a:srgbClr val="C00000"/>
                </a:solidFill>
                <a:latin typeface="黑体" panose="02010609060101010101" charset="-122"/>
              </a:rPr>
              <a:t>过拟合风险</a:t>
            </a:r>
            <a:endParaRPr sz="1455" b="1">
              <a:solidFill>
                <a:srgbClr val="C00000"/>
              </a:solidFill>
              <a:latin typeface="黑体" panose="02010609060101010101" charset="-122"/>
            </a:endParaRPr>
          </a:p>
        </p:txBody>
      </p:sp>
      <p:sp>
        <p:nvSpPr>
          <p:cNvPr id="5" name="TextBox 4"/>
          <p:cNvSpPr txBox="1"/>
          <p:nvPr/>
        </p:nvSpPr>
        <p:spPr>
          <a:xfrm>
            <a:off x="975360" y="1706880"/>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外汇价格噪音高，复杂模型容易记住历史偶然波动；</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回测收益高不代表实盘稳定。</a:t>
            </a:r>
            <a:endParaRPr sz="1175" b="0">
              <a:solidFill>
                <a:srgbClr val="000000"/>
              </a:solidFill>
              <a:latin typeface="宋体" panose="02010600030101010101" pitchFamily="2" charset="-122"/>
            </a:endParaRPr>
          </a:p>
        </p:txBody>
      </p:sp>
      <p:sp>
        <p:nvSpPr>
          <p:cNvPr id="6" name="TextBox 5"/>
          <p:cNvSpPr txBox="1"/>
          <p:nvPr/>
        </p:nvSpPr>
        <p:spPr>
          <a:xfrm>
            <a:off x="670560" y="2328672"/>
            <a:ext cx="243840" cy="243840"/>
          </a:xfrm>
          <a:prstGeom prst="rect">
            <a:avLst/>
          </a:prstGeom>
          <a:noFill/>
        </p:spPr>
        <p:txBody>
          <a:bodyPr wrap="square" lIns="24384" tIns="12192" rIns="24384" bIns="12192" anchor="t"/>
          <a:lstStyle/>
          <a:p>
            <a:pPr algn="l">
              <a:spcAft>
                <a:spcPts val="0"/>
              </a:spcAft>
            </a:pPr>
            <a:r>
              <a:rPr sz="1495" b="1">
                <a:solidFill>
                  <a:srgbClr val="70AD47"/>
                </a:solidFill>
                <a:latin typeface="黑体" panose="02010609060101010101" charset="-122"/>
              </a:rPr>
              <a:t>➤</a:t>
            </a:r>
            <a:endParaRPr sz="1495" b="1">
              <a:solidFill>
                <a:srgbClr val="70AD47"/>
              </a:solidFill>
              <a:latin typeface="黑体" panose="02010609060101010101" charset="-122"/>
            </a:endParaRPr>
          </a:p>
        </p:txBody>
      </p:sp>
      <p:sp>
        <p:nvSpPr>
          <p:cNvPr id="7" name="TextBox 6"/>
          <p:cNvSpPr txBox="1"/>
          <p:nvPr/>
        </p:nvSpPr>
        <p:spPr>
          <a:xfrm>
            <a:off x="975360" y="2316480"/>
            <a:ext cx="3389376" cy="219456"/>
          </a:xfrm>
          <a:prstGeom prst="rect">
            <a:avLst/>
          </a:prstGeom>
          <a:noFill/>
        </p:spPr>
        <p:txBody>
          <a:bodyPr wrap="square" lIns="24384" tIns="12192" rIns="24384" bIns="12192" anchor="t"/>
          <a:lstStyle/>
          <a:p>
            <a:pPr algn="l">
              <a:spcAft>
                <a:spcPts val="0"/>
              </a:spcAft>
            </a:pPr>
            <a:r>
              <a:rPr sz="1455" b="1">
                <a:solidFill>
                  <a:srgbClr val="70AD47"/>
                </a:solidFill>
                <a:latin typeface="黑体" panose="02010609060101010101" charset="-122"/>
              </a:rPr>
              <a:t>模型修正</a:t>
            </a:r>
            <a:endParaRPr sz="1455" b="1">
              <a:solidFill>
                <a:srgbClr val="70AD47"/>
              </a:solidFill>
              <a:latin typeface="黑体" panose="02010609060101010101" charset="-122"/>
            </a:endParaRPr>
          </a:p>
        </p:txBody>
      </p:sp>
      <p:sp>
        <p:nvSpPr>
          <p:cNvPr id="8" name="TextBox 7"/>
          <p:cNvSpPr txBox="1"/>
          <p:nvPr/>
        </p:nvSpPr>
        <p:spPr>
          <a:xfrm>
            <a:off x="975360" y="2584704"/>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个人交易更看重样本外泛化能力；</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简单模型往往比深度网络更容易解释和维护。</a:t>
            </a:r>
            <a:endParaRPr sz="1175" b="0">
              <a:solidFill>
                <a:srgbClr val="000000"/>
              </a:solidFill>
              <a:latin typeface="宋体" panose="02010600030101010101" pitchFamily="2" charset="-122"/>
            </a:endParaRPr>
          </a:p>
        </p:txBody>
      </p:sp>
      <p:sp>
        <p:nvSpPr>
          <p:cNvPr id="9" name="TextBox 8"/>
          <p:cNvSpPr txBox="1"/>
          <p:nvPr/>
        </p:nvSpPr>
        <p:spPr>
          <a:xfrm>
            <a:off x="670560" y="3206496"/>
            <a:ext cx="243840" cy="243840"/>
          </a:xfrm>
          <a:prstGeom prst="rect">
            <a:avLst/>
          </a:prstGeom>
          <a:noFill/>
        </p:spPr>
        <p:txBody>
          <a:bodyPr wrap="square" lIns="24384" tIns="12192" rIns="24384" bIns="12192" anchor="t"/>
          <a:lstStyle/>
          <a:p>
            <a:pPr algn="l">
              <a:spcAft>
                <a:spcPts val="0"/>
              </a:spcAft>
            </a:pPr>
            <a:r>
              <a:rPr sz="1495" b="1">
                <a:solidFill>
                  <a:srgbClr val="C00000"/>
                </a:solidFill>
                <a:latin typeface="黑体" panose="02010609060101010101" charset="-122"/>
              </a:rPr>
              <a:t>➤</a:t>
            </a:r>
            <a:endParaRPr sz="1495" b="1">
              <a:solidFill>
                <a:srgbClr val="C00000"/>
              </a:solidFill>
              <a:latin typeface="黑体" panose="02010609060101010101" charset="-122"/>
            </a:endParaRPr>
          </a:p>
        </p:txBody>
      </p:sp>
      <p:sp>
        <p:nvSpPr>
          <p:cNvPr id="10" name="TextBox 9"/>
          <p:cNvSpPr txBox="1"/>
          <p:nvPr/>
        </p:nvSpPr>
        <p:spPr>
          <a:xfrm>
            <a:off x="975360" y="3194304"/>
            <a:ext cx="3389376" cy="219456"/>
          </a:xfrm>
          <a:prstGeom prst="rect">
            <a:avLst/>
          </a:prstGeom>
          <a:noFill/>
        </p:spPr>
        <p:txBody>
          <a:bodyPr wrap="square" lIns="24384" tIns="12192" rIns="24384" bIns="12192" anchor="t"/>
          <a:lstStyle/>
          <a:p>
            <a:pPr algn="l">
              <a:spcAft>
                <a:spcPts val="0"/>
              </a:spcAft>
            </a:pPr>
            <a:r>
              <a:rPr sz="1455" b="1">
                <a:solidFill>
                  <a:srgbClr val="C00000"/>
                </a:solidFill>
                <a:latin typeface="黑体" panose="02010609060101010101" charset="-122"/>
              </a:rPr>
              <a:t>高频劣势</a:t>
            </a:r>
            <a:endParaRPr sz="1455" b="1">
              <a:solidFill>
                <a:srgbClr val="C00000"/>
              </a:solidFill>
              <a:latin typeface="黑体" panose="02010609060101010101" charset="-122"/>
            </a:endParaRPr>
          </a:p>
        </p:txBody>
      </p:sp>
      <p:sp>
        <p:nvSpPr>
          <p:cNvPr id="11" name="TextBox 10"/>
          <p:cNvSpPr txBox="1"/>
          <p:nvPr/>
        </p:nvSpPr>
        <p:spPr>
          <a:xfrm>
            <a:off x="975360" y="3462528"/>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机构HFT依赖专线、低延迟和低成本报价；</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个人账户很难在微秒级竞争。</a:t>
            </a:r>
            <a:endParaRPr sz="1175" b="0">
              <a:solidFill>
                <a:srgbClr val="000000"/>
              </a:solidFill>
              <a:latin typeface="宋体" panose="02010600030101010101" pitchFamily="2" charset="-122"/>
            </a:endParaRPr>
          </a:p>
        </p:txBody>
      </p:sp>
      <p:sp>
        <p:nvSpPr>
          <p:cNvPr id="12" name="TextBox 11"/>
          <p:cNvSpPr txBox="1"/>
          <p:nvPr/>
        </p:nvSpPr>
        <p:spPr>
          <a:xfrm>
            <a:off x="670560" y="4084319"/>
            <a:ext cx="243840" cy="243840"/>
          </a:xfrm>
          <a:prstGeom prst="rect">
            <a:avLst/>
          </a:prstGeom>
          <a:noFill/>
        </p:spPr>
        <p:txBody>
          <a:bodyPr wrap="square" lIns="24384" tIns="12192" rIns="24384" bIns="12192" anchor="t"/>
          <a:lstStyle/>
          <a:p>
            <a:pPr algn="l">
              <a:spcAft>
                <a:spcPts val="0"/>
              </a:spcAft>
            </a:pPr>
            <a:r>
              <a:rPr sz="1495" b="1">
                <a:solidFill>
                  <a:srgbClr val="4472C4"/>
                </a:solidFill>
                <a:latin typeface="黑体" panose="02010609060101010101" charset="-122"/>
              </a:rPr>
              <a:t>➤</a:t>
            </a:r>
            <a:endParaRPr sz="1495" b="1">
              <a:solidFill>
                <a:srgbClr val="4472C4"/>
              </a:solidFill>
              <a:latin typeface="黑体" panose="02010609060101010101" charset="-122"/>
            </a:endParaRPr>
          </a:p>
        </p:txBody>
      </p:sp>
      <p:sp>
        <p:nvSpPr>
          <p:cNvPr id="13" name="TextBox 12"/>
          <p:cNvSpPr txBox="1"/>
          <p:nvPr/>
        </p:nvSpPr>
        <p:spPr>
          <a:xfrm>
            <a:off x="975360" y="4072128"/>
            <a:ext cx="3389376" cy="219456"/>
          </a:xfrm>
          <a:prstGeom prst="rect">
            <a:avLst/>
          </a:prstGeom>
          <a:noFill/>
        </p:spPr>
        <p:txBody>
          <a:bodyPr wrap="square" lIns="24384" tIns="12192" rIns="24384" bIns="12192" anchor="t"/>
          <a:lstStyle/>
          <a:p>
            <a:pPr algn="l">
              <a:spcAft>
                <a:spcPts val="0"/>
              </a:spcAft>
            </a:pPr>
            <a:r>
              <a:rPr sz="1455" b="1">
                <a:solidFill>
                  <a:srgbClr val="4472C4"/>
                </a:solidFill>
                <a:latin typeface="黑体" panose="02010609060101010101" charset="-122"/>
              </a:rPr>
              <a:t>频率选择</a:t>
            </a:r>
            <a:endParaRPr sz="1455" b="1">
              <a:solidFill>
                <a:srgbClr val="4472C4"/>
              </a:solidFill>
              <a:latin typeface="黑体" panose="02010609060101010101" charset="-122"/>
            </a:endParaRPr>
          </a:p>
        </p:txBody>
      </p:sp>
      <p:sp>
        <p:nvSpPr>
          <p:cNvPr id="14" name="TextBox 13"/>
          <p:cNvSpPr txBox="1"/>
          <p:nvPr/>
        </p:nvSpPr>
        <p:spPr>
          <a:xfrm>
            <a:off x="975360" y="4340352"/>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策略频率应主动降下来；</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更适合做日内波段、趋势过滤和动态仓位。</a:t>
            </a:r>
            <a:endParaRPr sz="1175" b="0">
              <a:solidFill>
                <a:srgbClr val="000000"/>
              </a:solidFill>
              <a:latin typeface="宋体" panose="02010600030101010101" pitchFamily="2" charset="-122"/>
            </a:endParaRPr>
          </a:p>
        </p:txBody>
      </p:sp>
      <p:sp>
        <p:nvSpPr>
          <p:cNvPr id="15" name="TextBox 14"/>
          <p:cNvSpPr txBox="1"/>
          <p:nvPr/>
        </p:nvSpPr>
        <p:spPr>
          <a:xfrm>
            <a:off x="670560" y="4962143"/>
            <a:ext cx="243840" cy="243840"/>
          </a:xfrm>
          <a:prstGeom prst="rect">
            <a:avLst/>
          </a:prstGeom>
          <a:noFill/>
        </p:spPr>
        <p:txBody>
          <a:bodyPr wrap="square" lIns="24384" tIns="12192" rIns="24384" bIns="12192" anchor="t"/>
          <a:lstStyle/>
          <a:p>
            <a:pPr algn="l">
              <a:spcAft>
                <a:spcPts val="0"/>
              </a:spcAft>
            </a:pPr>
            <a:r>
              <a:rPr sz="1495" b="1">
                <a:solidFill>
                  <a:srgbClr val="ED7D31"/>
                </a:solidFill>
                <a:latin typeface="黑体" panose="02010609060101010101" charset="-122"/>
              </a:rPr>
              <a:t>➤</a:t>
            </a:r>
            <a:endParaRPr sz="1495" b="1">
              <a:solidFill>
                <a:srgbClr val="ED7D31"/>
              </a:solidFill>
              <a:latin typeface="黑体" panose="02010609060101010101" charset="-122"/>
            </a:endParaRPr>
          </a:p>
        </p:txBody>
      </p:sp>
      <p:sp>
        <p:nvSpPr>
          <p:cNvPr id="16" name="TextBox 15"/>
          <p:cNvSpPr txBox="1"/>
          <p:nvPr/>
        </p:nvSpPr>
        <p:spPr>
          <a:xfrm>
            <a:off x="975360" y="4949951"/>
            <a:ext cx="3389376" cy="219456"/>
          </a:xfrm>
          <a:prstGeom prst="rect">
            <a:avLst/>
          </a:prstGeom>
          <a:noFill/>
        </p:spPr>
        <p:txBody>
          <a:bodyPr wrap="square" lIns="24384" tIns="12192" rIns="24384" bIns="12192" anchor="t"/>
          <a:lstStyle/>
          <a:p>
            <a:pPr algn="l">
              <a:spcAft>
                <a:spcPts val="0"/>
              </a:spcAft>
            </a:pPr>
            <a:r>
              <a:rPr sz="1455" b="1">
                <a:solidFill>
                  <a:srgbClr val="ED7D31"/>
                </a:solidFill>
                <a:latin typeface="黑体" panose="02010609060101010101" charset="-122"/>
              </a:rPr>
              <a:t>黑盒失控</a:t>
            </a:r>
            <a:endParaRPr sz="1455" b="1">
              <a:solidFill>
                <a:srgbClr val="ED7D31"/>
              </a:solidFill>
              <a:latin typeface="黑体" panose="02010609060101010101" charset="-122"/>
            </a:endParaRPr>
          </a:p>
        </p:txBody>
      </p:sp>
      <p:sp>
        <p:nvSpPr>
          <p:cNvPr id="17" name="TextBox 16"/>
          <p:cNvSpPr txBox="1"/>
          <p:nvPr/>
        </p:nvSpPr>
        <p:spPr>
          <a:xfrm>
            <a:off x="975360" y="5218175"/>
            <a:ext cx="3389376" cy="548640"/>
          </a:xfrm>
          <a:prstGeom prst="rect">
            <a:avLst/>
          </a:prstGeom>
          <a:noFill/>
        </p:spPr>
        <p:txBody>
          <a:bodyPr wrap="square" lIns="12192" tIns="0" rIns="12192" bIns="0" anchor="t"/>
          <a:lstStyle/>
          <a:p>
            <a:pPr>
              <a:spcAft>
                <a:spcPts val="0"/>
              </a:spcAft>
            </a:pPr>
            <a:r>
              <a:rPr sz="1175" b="0">
                <a:solidFill>
                  <a:srgbClr val="000000"/>
                </a:solidFill>
                <a:latin typeface="宋体" panose="02010600030101010101" pitchFamily="2" charset="-122"/>
              </a:rPr>
              <a:t>AI适合作为信号过滤器或环境识别器；</a:t>
            </a:r>
            <a:endParaRPr sz="1175" b="0">
              <a:solidFill>
                <a:srgbClr val="000000"/>
              </a:solidFill>
              <a:latin typeface="宋体" panose="02010600030101010101" pitchFamily="2" charset="-122"/>
            </a:endParaRPr>
          </a:p>
          <a:p>
            <a:pPr>
              <a:spcAft>
                <a:spcPts val="0"/>
              </a:spcAft>
            </a:pPr>
            <a:r>
              <a:rPr sz="1175" b="0">
                <a:solidFill>
                  <a:srgbClr val="000000"/>
                </a:solidFill>
                <a:latin typeface="宋体" panose="02010600030101010101" pitchFamily="2" charset="-122"/>
              </a:rPr>
              <a:t>真正下单仍应由清晰规则控制。</a:t>
            </a:r>
            <a:endParaRPr sz="1175" b="0">
              <a:solidFill>
                <a:srgbClr val="000000"/>
              </a:solidFill>
              <a:latin typeface="宋体" panose="02010600030101010101" pitchFamily="2" charset="-122"/>
            </a:endParaRPr>
          </a:p>
        </p:txBody>
      </p:sp>
      <p:pic>
        <p:nvPicPr>
          <p:cNvPr id="18" name="Picture 17" descr="ai_fx_overfit_warning.png"/>
          <p:cNvPicPr>
            <a:picLocks noChangeAspect="1"/>
          </p:cNvPicPr>
          <p:nvPr/>
        </p:nvPicPr>
        <p:blipFill>
          <a:blip r:embed="rId1"/>
          <a:stretch>
            <a:fillRect/>
          </a:stretch>
        </p:blipFill>
        <p:spPr>
          <a:xfrm>
            <a:off x="5547360" y="1365504"/>
            <a:ext cx="6035040" cy="4169664"/>
          </a:xfrm>
          <a:prstGeom prst="rect">
            <a:avLst/>
          </a:prstGeom>
        </p:spPr>
      </p:pic>
      <p:sp>
        <p:nvSpPr>
          <p:cNvPr id="19" name="Rounded Rectangle 18"/>
          <p:cNvSpPr/>
          <p:nvPr/>
        </p:nvSpPr>
        <p:spPr>
          <a:xfrm>
            <a:off x="670560" y="6096000"/>
            <a:ext cx="10668000" cy="329184"/>
          </a:xfrm>
          <a:prstGeom prst="roundRect">
            <a:avLst/>
          </a:prstGeom>
          <a:solidFill>
            <a:srgbClr val="F8FAFF"/>
          </a:solidFill>
          <a:ln w="12700">
            <a:solidFill>
              <a:srgbClr val="DA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877824" y="6163056"/>
            <a:ext cx="10180320" cy="158496"/>
          </a:xfrm>
          <a:prstGeom prst="rect">
            <a:avLst/>
          </a:prstGeom>
          <a:noFill/>
        </p:spPr>
        <p:txBody>
          <a:bodyPr wrap="square" lIns="24384" tIns="12192" rIns="24384" bIns="12192" anchor="t"/>
          <a:lstStyle/>
          <a:p>
            <a:r>
              <a:rPr sz="1175" b="0">
                <a:solidFill>
                  <a:srgbClr val="525252"/>
                </a:solidFill>
                <a:latin typeface="宋体" panose="02010600030101010101" pitchFamily="2" charset="-122"/>
              </a:rPr>
              <a:t>要点：AI交易的稳健性来自可解释规则、样本外验证、成本约束和风险控制，而不是模型复杂度。</a:t>
            </a:r>
            <a:endParaRPr sz="1175" b="0">
              <a:solidFill>
                <a:srgbClr val="525252"/>
              </a:solidFill>
              <a:latin typeface="宋体" panose="02010600030101010101" pitchFamily="2" charset="-122"/>
            </a:endParaRPr>
          </a:p>
        </p:txBody>
      </p:sp>
      <p:sp>
        <p:nvSpPr>
          <p:cNvPr id="21" name="Parallelogram 20"/>
          <p:cNvSpPr/>
          <p:nvPr/>
        </p:nvSpPr>
        <p:spPr>
          <a:xfrm>
            <a:off x="2097024" y="6510528"/>
            <a:ext cx="633984" cy="121920"/>
          </a:xfrm>
          <a:prstGeom prst="parallelogram">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Rectangle 21"/>
          <p:cNvSpPr/>
          <p:nvPr/>
        </p:nvSpPr>
        <p:spPr>
          <a:xfrm>
            <a:off x="2499359" y="6510528"/>
            <a:ext cx="9326880" cy="121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255.59992125984257,&quot;left&quot;:39.6,&quot;top&quot;:84.96000000000001,&quot;width&quot;:218.16}"/>
</p:tagLst>
</file>

<file path=ppt/tags/tag64.xml><?xml version="1.0" encoding="utf-8"?>
<p:tagLst xmlns:p="http://schemas.openxmlformats.org/presentationml/2006/main">
  <p:tag name="KSO_WM_DIAGRAM_VIRTUALLY_FRAME" val="{&quot;height&quot;:255.59992125984257,&quot;left&quot;:39.6,&quot;top&quot;:84.96000000000001,&quot;width&quot;:218.16}"/>
</p:tagLst>
</file>

<file path=ppt/tags/tag65.xml><?xml version="1.0" encoding="utf-8"?>
<p:tagLst xmlns:p="http://schemas.openxmlformats.org/presentationml/2006/main">
  <p:tag name="KSO_WM_DIAGRAM_VIRTUALLY_FRAME" val="{&quot;height&quot;:255.59992125984257,&quot;left&quot;:39.6,&quot;top&quot;:84.96000000000001,&quot;width&quot;:218.16}"/>
</p:tagLst>
</file>

<file path=ppt/tags/tag66.xml><?xml version="1.0" encoding="utf-8"?>
<p:tagLst xmlns:p="http://schemas.openxmlformats.org/presentationml/2006/main">
  <p:tag name="KSO_WM_DIAGRAM_VIRTUALLY_FRAME" val="{&quot;height&quot;:255.59992125984257,&quot;left&quot;:39.6,&quot;top&quot;:84.96000000000001,&quot;width&quot;:218.16}"/>
</p:tagLst>
</file>

<file path=ppt/tags/tag67.xml><?xml version="1.0" encoding="utf-8"?>
<p:tagLst xmlns:p="http://schemas.openxmlformats.org/presentationml/2006/main">
  <p:tag name="KSO_WM_DIAGRAM_VIRTUALLY_FRAME" val="{&quot;height&quot;:255.59992125984257,&quot;left&quot;:39.6,&quot;top&quot;:84.96000000000001,&quot;width&quot;:218.16}"/>
</p:tagLst>
</file>

<file path=ppt/tags/tag68.xml><?xml version="1.0" encoding="utf-8"?>
<p:tagLst xmlns:p="http://schemas.openxmlformats.org/presentationml/2006/main">
  <p:tag name="KSO_WM_DIAGRAM_VIRTUALLY_FRAME" val="{&quot;height&quot;:255.59992125984257,&quot;left&quot;:39.6,&quot;top&quot;:84.96000000000001,&quot;width&quot;:218.16}"/>
</p:tagLst>
</file>

<file path=ppt/tags/tag69.xml><?xml version="1.0" encoding="utf-8"?>
<p:tagLst xmlns:p="http://schemas.openxmlformats.org/presentationml/2006/main">
  <p:tag name="KSO_WM_DIAGRAM_VIRTUALLY_FRAME" val="{&quot;height&quot;:255.59992125984257,&quot;left&quot;:39.6,&quot;top&quot;:84.96000000000001,&quot;width&quot;:218.16}"/>
</p:tagLst>
</file>

<file path=ppt/tags/tag70.xml><?xml version="1.0" encoding="utf-8"?>
<p:tagLst xmlns:p="http://schemas.openxmlformats.org/presentationml/2006/main">
  <p:tag name="KSO_WM_DIAGRAM_VIRTUALLY_FRAME" val="{&quot;height&quot;:255.59992125984257,&quot;left&quot;:39.6,&quot;top&quot;:84.96000000000001,&quot;width&quot;:218.16}"/>
</p:tagLst>
</file>

<file path=ppt/tags/tag71.xml><?xml version="1.0" encoding="utf-8"?>
<p:tagLst xmlns:p="http://schemas.openxmlformats.org/presentationml/2006/main">
  <p:tag name="KSO_WM_DIAGRAM_VIRTUALLY_FRAME" val="{&quot;height&quot;:255.59992125984257,&quot;left&quot;:39.6,&quot;top&quot;:84.96000000000001,&quot;width&quot;:218.16}"/>
</p:tagLst>
</file>

<file path=ppt/tags/tag72.xml><?xml version="1.0" encoding="utf-8"?>
<p:tagLst xmlns:p="http://schemas.openxmlformats.org/presentationml/2006/main">
  <p:tag name="KSO_WM_DIAGRAM_VIRTUALLY_FRAME" val="{&quot;height&quot;:255.59992125984257,&quot;left&quot;:39.6,&quot;top&quot;:84.96000000000001,&quot;width&quot;:218.16}"/>
</p:tagLst>
</file>

<file path=ppt/tags/tag73.xml><?xml version="1.0" encoding="utf-8"?>
<p:tagLst xmlns:p="http://schemas.openxmlformats.org/presentationml/2006/main">
  <p:tag name="KSO_WM_DIAGRAM_VIRTUALLY_FRAME" val="{&quot;height&quot;:255.59992125984257,&quot;left&quot;:39.6,&quot;top&quot;:84.96000000000001,&quot;width&quot;:218.16}"/>
</p:tagLst>
</file>

<file path=ppt/tags/tag74.xml><?xml version="1.0" encoding="utf-8"?>
<p:tagLst xmlns:p="http://schemas.openxmlformats.org/presentationml/2006/main">
  <p:tag name="KSO_WM_DIAGRAM_VIRTUALLY_FRAME" val="{&quot;height&quot;:255.59992125984257,&quot;left&quot;:39.6,&quot;top&quot;:84.96000000000001,&quot;width&quot;:218.16}"/>
</p:tagLst>
</file>

<file path=ppt/tags/tag75.xml><?xml version="1.0" encoding="utf-8"?>
<p:tagLst xmlns:p="http://schemas.openxmlformats.org/presentationml/2006/main">
  <p:tag name="KSO_WM_DIAGRAM_VIRTUALLY_FRAME" val="{&quot;height&quot;:255.59992125984257,&quot;left&quot;:39.6,&quot;top&quot;:84.96000000000001,&quot;width&quot;:218.16}"/>
</p:tagLst>
</file>

<file path=ppt/tags/tag76.xml><?xml version="1.0" encoding="utf-8"?>
<p:tagLst xmlns:p="http://schemas.openxmlformats.org/presentationml/2006/main">
  <p:tag name="KSO_WM_DIAGRAM_VIRTUALLY_FRAME" val="{&quot;height&quot;:255.59992125984257,&quot;left&quot;:39.6,&quot;top&quot;:84.96000000000001,&quot;width&quot;:218.16}"/>
</p:tagLst>
</file>

<file path=ppt/tags/tag77.xml><?xml version="1.0" encoding="utf-8"?>
<p:tagLst xmlns:p="http://schemas.openxmlformats.org/presentationml/2006/main">
  <p:tag name="KSO_WM_DIAGRAM_VIRTUALLY_FRAME" val="{&quot;height&quot;:255.59992125984257,&quot;left&quot;:39.6,&quot;top&quot;:84.96000000000001,&quot;width&quot;:218.16}"/>
</p:tagLst>
</file>

<file path=ppt/theme/theme1.xml><?xml version="1.0" encoding="utf-8"?>
<a:theme xmlns:a="http://schemas.openxmlformats.org/drawingml/2006/main" name="1_空白设计模板">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2734</Words>
  <Application>WPS 演示</Application>
  <PresentationFormat>宽屏</PresentationFormat>
  <Paragraphs>322</Paragraphs>
  <Slides>9</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Wingdings</vt:lpstr>
      <vt:lpstr>微软雅黑</vt:lpstr>
      <vt:lpstr>Arial Unicode MS</vt:lpstr>
      <vt:lpstr>Calibri</vt:lpstr>
      <vt:lpstr>黑体</vt:lpstr>
      <vt:lpstr>方正仿宋_GB2312</vt:lpstr>
      <vt:lpstr>1_空白设计模板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王君也</cp:lastModifiedBy>
  <cp:revision>157</cp:revision>
  <dcterms:created xsi:type="dcterms:W3CDTF">2019-06-19T02:08:00Z</dcterms:created>
  <dcterms:modified xsi:type="dcterms:W3CDTF">2026-05-27T18:05:42Z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861FA87ADF554B1B9EFF5586FB37DE5E_11</vt:lpwstr>
  </property>
</Properties>
</file>